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F1F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" cy="5143500"/>
          </a:xfrm>
          <a:prstGeom prst="rect">
            <a:avLst/>
          </a:prstGeom>
          <a:solidFill>
            <a:srgbClr val="E877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4828032"/>
            <a:ext cx="9144000" cy="320040"/>
          </a:xfrm>
          <a:prstGeom prst="rect">
            <a:avLst/>
          </a:prstGeom>
          <a:solidFill>
            <a:srgbClr val="E877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5760720" y="-548640"/>
            <a:ext cx="3840480" cy="3840480"/>
          </a:xfrm>
          <a:prstGeom prst="ellipse">
            <a:avLst/>
          </a:prstGeom>
          <a:solidFill>
            <a:srgbClr val="2135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6858000" y="1280160"/>
            <a:ext cx="2377440" cy="2377440"/>
          </a:xfrm>
          <a:prstGeom prst="ellipse">
            <a:avLst/>
          </a:prstGeom>
          <a:solidFill>
            <a:srgbClr val="2135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65760" y="457200"/>
            <a:ext cx="6400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A0AABB"/>
                </a:solidFill>
                <a:latin typeface="Calibri"/>
              </a:rPr>
              <a:t>I.U. PASCUAL BRAVO · ET0126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822960"/>
            <a:ext cx="54864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E87722"/>
                </a:solidFill>
                <a:latin typeface="Calibri"/>
              </a:rPr>
              <a:t>CLASE 2 · MIÉRCOLES 26 DE AGOSTO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5760" y="1234440"/>
            <a:ext cx="640080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000" b="1">
                <a:solidFill>
                  <a:srgbClr val="FFFFFF"/>
                </a:solidFill>
                <a:latin typeface="Calibri"/>
              </a:rPr>
              <a:t>Introducción al</a:t>
            </a:r>
          </a:p>
          <a:p>
            <a:pPr algn="l"/>
            <a:r>
              <a:rPr sz="4000" b="1">
                <a:solidFill>
                  <a:srgbClr val="FFFFFF"/>
                </a:solidFill>
                <a:latin typeface="Calibri"/>
              </a:rPr>
              <a:t>lenguaje Dart</a:t>
            </a:r>
          </a:p>
        </p:txBody>
      </p:sp>
      <p:sp>
        <p:nvSpPr>
          <p:cNvPr id="10" name="Rectangle 9"/>
          <p:cNvSpPr/>
          <p:nvPr/>
        </p:nvSpPr>
        <p:spPr>
          <a:xfrm>
            <a:off x="365760" y="2907792"/>
            <a:ext cx="1097280" cy="45720"/>
          </a:xfrm>
          <a:prstGeom prst="rect">
            <a:avLst/>
          </a:prstGeom>
          <a:solidFill>
            <a:srgbClr val="E877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65760" y="3054096"/>
            <a:ext cx="7315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C8D4E8"/>
                </a:solidFill>
                <a:latin typeface="Calibri"/>
              </a:rPr>
              <a:t>El lenguaje detras de Flutter — sintaxis, tipos y null safety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65760" y="3401568"/>
            <a:ext cx="73152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Calibri"/>
              </a:rPr>
              <a:t>Con ejemplos en vivo en DartPad (dartpad.dev)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4434840"/>
            <a:ext cx="7315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708099"/>
                </a:solidFill>
                <a:latin typeface="Calibri"/>
              </a:rPr>
              <a:t>juanduque-ipb.github.io/et0126-dispositivos-moviles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E877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164592"/>
            <a:ext cx="7315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E87722"/>
                </a:solidFill>
                <a:latin typeface="Calibri"/>
              </a:rPr>
              <a:t>RECORDANDO — CLASE DEL LUNES 24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457200"/>
            <a:ext cx="8229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700" b="1" i="0">
                <a:solidFill>
                  <a:srgbClr val="1B2F5B"/>
                </a:solidFill>
                <a:latin typeface="Calibri"/>
              </a:rPr>
              <a:t>Lo que ya vimos</a:t>
            </a:r>
          </a:p>
        </p:txBody>
      </p:sp>
      <p:sp>
        <p:nvSpPr>
          <p:cNvPr id="6" name="Rectangle 5"/>
          <p:cNvSpPr/>
          <p:nvPr/>
        </p:nvSpPr>
        <p:spPr>
          <a:xfrm>
            <a:off x="365760" y="1188720"/>
            <a:ext cx="4206240" cy="14173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365760" y="1188720"/>
            <a:ext cx="82296" cy="1417320"/>
          </a:xfrm>
          <a:prstGeom prst="rect">
            <a:avLst/>
          </a:prstGeom>
          <a:solidFill>
            <a:srgbClr val="1B2F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21792" y="1335024"/>
            <a:ext cx="3749039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1B2F5B"/>
                </a:solidFill>
                <a:latin typeface="Calibri"/>
              </a:rPr>
              <a:t>Filosofia del curso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21792" y="1755648"/>
            <a:ext cx="37947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374151"/>
                </a:solidFill>
                <a:latin typeface="Calibri"/>
              </a:rPr>
              <a:t>Apps reales, no informes. Software como evidencia de aprendizaje.</a:t>
            </a:r>
          </a:p>
        </p:txBody>
      </p:sp>
      <p:sp>
        <p:nvSpPr>
          <p:cNvPr id="10" name="Rectangle 9"/>
          <p:cNvSpPr/>
          <p:nvPr/>
        </p:nvSpPr>
        <p:spPr>
          <a:xfrm>
            <a:off x="4800600" y="1188720"/>
            <a:ext cx="4206240" cy="14173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800600" y="1188720"/>
            <a:ext cx="82296" cy="1417320"/>
          </a:xfrm>
          <a:prstGeom prst="rect">
            <a:avLst/>
          </a:prstGeom>
          <a:solidFill>
            <a:srgbClr val="E877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056632" y="1335024"/>
            <a:ext cx="3749039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1B2F5B"/>
                </a:solidFill>
                <a:latin typeface="Calibri"/>
              </a:rPr>
              <a:t>Estructura del semestre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056632" y="1755648"/>
            <a:ext cx="37947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374151"/>
                </a:solidFill>
                <a:latin typeface="Calibri"/>
              </a:rPr>
              <a:t>3 unidades, 14 semanas activas, evaluacion 30-30-40.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65760" y="2788920"/>
            <a:ext cx="4206240" cy="14173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365760" y="2788920"/>
            <a:ext cx="82296" cy="1417320"/>
          </a:xfrm>
          <a:prstGeom prst="rect">
            <a:avLst/>
          </a:prstGeom>
          <a:solidFill>
            <a:srgbClr val="0D7A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21792" y="2935224"/>
            <a:ext cx="3749039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1B2F5B"/>
                </a:solidFill>
                <a:latin typeface="Calibri"/>
              </a:rPr>
              <a:t>Herramientas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21792" y="3355848"/>
            <a:ext cx="37947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374151"/>
                </a:solidFill>
                <a:latin typeface="Calibri"/>
              </a:rPr>
              <a:t>Flutter, Dart, Android Studio, GitHub, Firebase.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800600" y="2788920"/>
            <a:ext cx="4206240" cy="14173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4800600" y="2788920"/>
            <a:ext cx="82296" cy="1417320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056632" y="2935224"/>
            <a:ext cx="3749039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1B2F5B"/>
                </a:solidFill>
                <a:latin typeface="Calibri"/>
              </a:rPr>
              <a:t>Politica de IA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056632" y="3355848"/>
            <a:ext cx="37947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374151"/>
                </a:solidFill>
                <a:latin typeface="Calibri"/>
              </a:rPr>
              <a:t>Permitida como copiloto. El autor sigue siendo el estudiante.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365760" y="4526280"/>
            <a:ext cx="8412480" cy="384048"/>
          </a:xfrm>
          <a:prstGeom prst="rect">
            <a:avLst/>
          </a:prstGeom>
          <a:solidFill>
            <a:srgbClr val="1B2F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365760" y="4572000"/>
            <a:ext cx="84124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50" b="1" i="0">
                <a:solidFill>
                  <a:srgbClr val="FFFFFF"/>
                </a:solidFill>
                <a:latin typeface="Calibri"/>
              </a:rPr>
              <a:t>Hoy damos el siguiente paso: el lenguaje que hace todo esto posible — Dart.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E877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164592"/>
            <a:ext cx="7315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E87722"/>
                </a:solidFill>
                <a:latin typeface="Calibri"/>
              </a:rPr>
              <a:t>AGENDA DE HOY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457200"/>
            <a:ext cx="8229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1B2F5B"/>
                </a:solidFill>
                <a:latin typeface="Calibri"/>
              </a:rPr>
              <a:t>Introduccion al lenguaje Dart</a:t>
            </a:r>
          </a:p>
        </p:txBody>
      </p:sp>
      <p:sp>
        <p:nvSpPr>
          <p:cNvPr id="6" name="Rectangle 5"/>
          <p:cNvSpPr/>
          <p:nvPr/>
        </p:nvSpPr>
        <p:spPr>
          <a:xfrm>
            <a:off x="365760" y="1234440"/>
            <a:ext cx="402336" cy="402336"/>
          </a:xfrm>
          <a:prstGeom prst="rect">
            <a:avLst/>
          </a:prstGeom>
          <a:solidFill>
            <a:srgbClr val="E877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65760" y="1280160"/>
            <a:ext cx="402336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01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96112" y="1261872"/>
            <a:ext cx="37947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374151"/>
                </a:solidFill>
                <a:latin typeface="Calibri"/>
              </a:rPr>
              <a:t>Por que Dart — el lenguaje detras de Flutter</a:t>
            </a:r>
          </a:p>
        </p:txBody>
      </p:sp>
      <p:sp>
        <p:nvSpPr>
          <p:cNvPr id="9" name="Rectangle 8"/>
          <p:cNvSpPr/>
          <p:nvPr/>
        </p:nvSpPr>
        <p:spPr>
          <a:xfrm>
            <a:off x="4800600" y="1234440"/>
            <a:ext cx="402336" cy="402336"/>
          </a:xfrm>
          <a:prstGeom prst="rect">
            <a:avLst/>
          </a:prstGeom>
          <a:solidFill>
            <a:srgbClr val="E877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800600" y="1280160"/>
            <a:ext cx="402336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02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330952" y="1261872"/>
            <a:ext cx="37947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374151"/>
                </a:solidFill>
                <a:latin typeface="Calibri"/>
              </a:rPr>
              <a:t>DartPad — programar sin instalar nada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65760" y="2075688"/>
            <a:ext cx="402336" cy="402336"/>
          </a:xfrm>
          <a:prstGeom prst="rect">
            <a:avLst/>
          </a:prstGeom>
          <a:solidFill>
            <a:srgbClr val="E877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65760" y="2121408"/>
            <a:ext cx="402336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03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96112" y="2103120"/>
            <a:ext cx="37947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374151"/>
                </a:solidFill>
                <a:latin typeface="Calibri"/>
              </a:rPr>
              <a:t>Variables, tipos y null safety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800600" y="2075688"/>
            <a:ext cx="402336" cy="402336"/>
          </a:xfrm>
          <a:prstGeom prst="rect">
            <a:avLst/>
          </a:prstGeom>
          <a:solidFill>
            <a:srgbClr val="E877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800600" y="2121408"/>
            <a:ext cx="402336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04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330952" y="2103120"/>
            <a:ext cx="37947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374151"/>
                </a:solidFill>
                <a:latin typeface="Calibri"/>
              </a:rPr>
              <a:t>Funciones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65760" y="2916936"/>
            <a:ext cx="402336" cy="402336"/>
          </a:xfrm>
          <a:prstGeom prst="rect">
            <a:avLst/>
          </a:prstGeom>
          <a:solidFill>
            <a:srgbClr val="E877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365760" y="2962656"/>
            <a:ext cx="402336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05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96112" y="2944368"/>
            <a:ext cx="37947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374151"/>
                </a:solidFill>
                <a:latin typeface="Calibri"/>
              </a:rPr>
              <a:t>Colecciones: List, Map, Set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800600" y="2916936"/>
            <a:ext cx="402336" cy="402336"/>
          </a:xfrm>
          <a:prstGeom prst="rect">
            <a:avLst/>
          </a:prstGeom>
          <a:solidFill>
            <a:srgbClr val="E877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800600" y="2962656"/>
            <a:ext cx="402336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06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330952" y="2944368"/>
            <a:ext cx="37947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374151"/>
                </a:solidFill>
                <a:latin typeface="Calibri"/>
              </a:rPr>
              <a:t>Control de flujo: if, for, while</a:t>
            </a:r>
          </a:p>
        </p:txBody>
      </p:sp>
      <p:sp>
        <p:nvSpPr>
          <p:cNvPr id="24" name="Rectangle 23"/>
          <p:cNvSpPr/>
          <p:nvPr/>
        </p:nvSpPr>
        <p:spPr>
          <a:xfrm>
            <a:off x="365760" y="3758184"/>
            <a:ext cx="402336" cy="402336"/>
          </a:xfrm>
          <a:prstGeom prst="rect">
            <a:avLst/>
          </a:prstGeom>
          <a:solidFill>
            <a:srgbClr val="E877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365760" y="3803904"/>
            <a:ext cx="402336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07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96112" y="3785616"/>
            <a:ext cx="37947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374151"/>
                </a:solidFill>
                <a:latin typeface="Calibri"/>
              </a:rPr>
              <a:t>Clases — la base de los widgets de Flutter</a:t>
            </a:r>
          </a:p>
        </p:txBody>
      </p:sp>
      <p:sp>
        <p:nvSpPr>
          <p:cNvPr id="27" name="Rectangle 26"/>
          <p:cNvSpPr/>
          <p:nvPr/>
        </p:nvSpPr>
        <p:spPr>
          <a:xfrm>
            <a:off x="4800600" y="3758184"/>
            <a:ext cx="402336" cy="402336"/>
          </a:xfrm>
          <a:prstGeom prst="rect">
            <a:avLst/>
          </a:prstGeom>
          <a:solidFill>
            <a:srgbClr val="E877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4800600" y="3803904"/>
            <a:ext cx="402336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08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330952" y="3785616"/>
            <a:ext cx="37947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374151"/>
                </a:solidFill>
                <a:latin typeface="Calibri"/>
              </a:rPr>
              <a:t>Reto en vivo en DartPad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F1F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E877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164592"/>
            <a:ext cx="7315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E87722"/>
                </a:solidFill>
                <a:latin typeface="Calibri"/>
              </a:rPr>
              <a:t>EL LENGUAJE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457200"/>
            <a:ext cx="8229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  <a:latin typeface="Calibri"/>
              </a:rPr>
              <a:t>Por que Dart?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987552"/>
            <a:ext cx="82296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C8D4E8"/>
                </a:solidFill>
                <a:latin typeface="Calibri"/>
              </a:rPr>
              <a:t>Creado por Google especificamente para construir interfaces de usuario</a:t>
            </a:r>
          </a:p>
        </p:txBody>
      </p:sp>
      <p:sp>
        <p:nvSpPr>
          <p:cNvPr id="7" name="Rectangle 6"/>
          <p:cNvSpPr/>
          <p:nvPr/>
        </p:nvSpPr>
        <p:spPr>
          <a:xfrm>
            <a:off x="320040" y="1463040"/>
            <a:ext cx="2743200" cy="1417320"/>
          </a:xfrm>
          <a:prstGeom prst="rect">
            <a:avLst/>
          </a:prstGeom>
          <a:solidFill>
            <a:srgbClr val="1A27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320040" y="1463040"/>
            <a:ext cx="2743200" cy="54864"/>
          </a:xfrm>
          <a:prstGeom prst="rect">
            <a:avLst/>
          </a:prstGeom>
          <a:solidFill>
            <a:srgbClr val="E877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66344" y="1609344"/>
            <a:ext cx="2468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1" i="0">
                <a:solidFill>
                  <a:srgbClr val="FFFFFF"/>
                </a:solidFill>
                <a:latin typeface="Calibri"/>
              </a:rPr>
              <a:t>Optimizado para UI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66344" y="2029968"/>
            <a:ext cx="246888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80" b="0">
                <a:solidFill>
                  <a:srgbClr val="C8D4E8"/>
                </a:solidFill>
                <a:latin typeface="Calibri"/>
              </a:rPr>
              <a:t>Disenado desde cero para dibujar interfaces rapido y fluido (60-120 fps).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200400" y="1463040"/>
            <a:ext cx="2743200" cy="1417320"/>
          </a:xfrm>
          <a:prstGeom prst="rect">
            <a:avLst/>
          </a:prstGeom>
          <a:solidFill>
            <a:srgbClr val="1A27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3200400" y="1463040"/>
            <a:ext cx="2743200" cy="54864"/>
          </a:xfrm>
          <a:prstGeom prst="rect">
            <a:avLst/>
          </a:prstGeom>
          <a:solidFill>
            <a:srgbClr val="E877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346704" y="1609344"/>
            <a:ext cx="2468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1" i="0">
                <a:solidFill>
                  <a:srgbClr val="FFFFFF"/>
                </a:solidFill>
                <a:latin typeface="Calibri"/>
              </a:rPr>
              <a:t>Compila a codigo nativo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346704" y="2029968"/>
            <a:ext cx="246888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80" b="0">
                <a:solidFill>
                  <a:srgbClr val="C8D4E8"/>
                </a:solidFill>
                <a:latin typeface="Calibri"/>
              </a:rPr>
              <a:t>Se compila a ARM/x64 nativo (apps rapidas) y tambien a JavaScript (web).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080759" y="1463040"/>
            <a:ext cx="2743200" cy="1417320"/>
          </a:xfrm>
          <a:prstGeom prst="rect">
            <a:avLst/>
          </a:prstGeom>
          <a:solidFill>
            <a:srgbClr val="1A27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080759" y="1463040"/>
            <a:ext cx="2743200" cy="54864"/>
          </a:xfrm>
          <a:prstGeom prst="rect">
            <a:avLst/>
          </a:prstGeom>
          <a:solidFill>
            <a:srgbClr val="E877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227064" y="1609344"/>
            <a:ext cx="2468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1" i="0">
                <a:solidFill>
                  <a:srgbClr val="FFFFFF"/>
                </a:solidFill>
                <a:latin typeface="Calibri"/>
              </a:rPr>
              <a:t>Sound null safety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227064" y="2029968"/>
            <a:ext cx="246888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80" b="0">
                <a:solidFill>
                  <a:srgbClr val="C8D4E8"/>
                </a:solidFill>
                <a:latin typeface="Calibri"/>
              </a:rPr>
              <a:t>El compilador te obliga a manejar los valores nulos — menos crashes en produccion.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20040" y="3063240"/>
            <a:ext cx="2743200" cy="1417320"/>
          </a:xfrm>
          <a:prstGeom prst="rect">
            <a:avLst/>
          </a:prstGeom>
          <a:solidFill>
            <a:srgbClr val="1A27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320040" y="3063240"/>
            <a:ext cx="2743200" cy="54864"/>
          </a:xfrm>
          <a:prstGeom prst="rect">
            <a:avLst/>
          </a:prstGeom>
          <a:solidFill>
            <a:srgbClr val="E877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66344" y="3209544"/>
            <a:ext cx="2468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1" i="0">
                <a:solidFill>
                  <a:srgbClr val="FFFFFF"/>
                </a:solidFill>
                <a:latin typeface="Calibri"/>
              </a:rPr>
              <a:t>Sintaxis familiar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66344" y="3630168"/>
            <a:ext cx="246888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80" b="0">
                <a:solidFill>
                  <a:srgbClr val="C8D4E8"/>
                </a:solidFill>
                <a:latin typeface="Calibri"/>
              </a:rPr>
              <a:t>Si conoces Java, C#, JavaScript o Kotlin, Dart se siente conocido casi de inmediato.</a:t>
            </a:r>
          </a:p>
        </p:txBody>
      </p:sp>
      <p:sp>
        <p:nvSpPr>
          <p:cNvPr id="23" name="Rectangle 22"/>
          <p:cNvSpPr/>
          <p:nvPr/>
        </p:nvSpPr>
        <p:spPr>
          <a:xfrm>
            <a:off x="3200400" y="3063240"/>
            <a:ext cx="2743200" cy="1417320"/>
          </a:xfrm>
          <a:prstGeom prst="rect">
            <a:avLst/>
          </a:prstGeom>
          <a:solidFill>
            <a:srgbClr val="1A27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3200400" y="3063240"/>
            <a:ext cx="2743200" cy="54864"/>
          </a:xfrm>
          <a:prstGeom prst="rect">
            <a:avLst/>
          </a:prstGeom>
          <a:solidFill>
            <a:srgbClr val="E877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3346704" y="3209544"/>
            <a:ext cx="2468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1" i="0">
                <a:solidFill>
                  <a:srgbClr val="FFFFFF"/>
                </a:solidFill>
                <a:latin typeface="Calibri"/>
              </a:rPr>
              <a:t>Hot reload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346704" y="3630168"/>
            <a:ext cx="246888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80" b="0">
                <a:solidFill>
                  <a:srgbClr val="C8D4E8"/>
                </a:solidFill>
                <a:latin typeface="Calibri"/>
              </a:rPr>
              <a:t>Cambias el codigo y ves el resultado en el emulador en menos de un segundo.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080759" y="3063240"/>
            <a:ext cx="2743200" cy="1417320"/>
          </a:xfrm>
          <a:prstGeom prst="rect">
            <a:avLst/>
          </a:prstGeom>
          <a:solidFill>
            <a:srgbClr val="1A27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6080759" y="3063240"/>
            <a:ext cx="2743200" cy="54864"/>
          </a:xfrm>
          <a:prstGeom prst="rect">
            <a:avLst/>
          </a:prstGeom>
          <a:solidFill>
            <a:srgbClr val="E877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227064" y="3209544"/>
            <a:ext cx="2468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1" i="0">
                <a:solidFill>
                  <a:srgbClr val="FFFFFF"/>
                </a:solidFill>
                <a:latin typeface="Calibri"/>
              </a:rPr>
              <a:t>Usado en produccion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227064" y="3630168"/>
            <a:ext cx="246888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80" b="0">
                <a:solidFill>
                  <a:srgbClr val="C8D4E8"/>
                </a:solidFill>
                <a:latin typeface="Calibri"/>
              </a:rPr>
              <a:t>Google Ads, Alibaba (Xianyu), eBay Motors y miles de apps en producción usan Dart y Flutter.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E877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164592"/>
            <a:ext cx="7315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E87722"/>
                </a:solidFill>
                <a:latin typeface="Calibri"/>
              </a:rPr>
              <a:t>NUESTRA HERRAMIENTA DE HOY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457200"/>
            <a:ext cx="8229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500" b="1" i="0">
                <a:solidFill>
                  <a:srgbClr val="1B2F5B"/>
                </a:solidFill>
                <a:latin typeface="Calibri"/>
              </a:rPr>
              <a:t>DartPad — Dart en el navegador</a:t>
            </a:r>
          </a:p>
        </p:txBody>
      </p:sp>
      <p:sp>
        <p:nvSpPr>
          <p:cNvPr id="6" name="Rectangle 5"/>
          <p:cNvSpPr/>
          <p:nvPr/>
        </p:nvSpPr>
        <p:spPr>
          <a:xfrm>
            <a:off x="365760" y="1143000"/>
            <a:ext cx="4206240" cy="3383280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94360" y="1325880"/>
            <a:ext cx="3749039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B2F5B"/>
                </a:solidFill>
                <a:latin typeface="Calibri"/>
              </a:rPr>
              <a:t>Que es?</a:t>
            </a:r>
          </a:p>
        </p:txBody>
      </p:sp>
      <p:sp>
        <p:nvSpPr>
          <p:cNvPr id="8" name="Oval 7"/>
          <p:cNvSpPr/>
          <p:nvPr/>
        </p:nvSpPr>
        <p:spPr>
          <a:xfrm>
            <a:off x="621792" y="1810512"/>
            <a:ext cx="91440" cy="91440"/>
          </a:xfrm>
          <a:prstGeom prst="ellipse">
            <a:avLst/>
          </a:prstGeom>
          <a:solidFill>
            <a:srgbClr val="E877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41248" y="1737360"/>
            <a:ext cx="36118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80" b="0" i="0">
                <a:solidFill>
                  <a:srgbClr val="374151"/>
                </a:solidFill>
                <a:latin typeface="Calibri"/>
              </a:rPr>
              <a:t>Editor de Dart que corre 100% en el navegador</a:t>
            </a:r>
          </a:p>
        </p:txBody>
      </p:sp>
      <p:sp>
        <p:nvSpPr>
          <p:cNvPr id="10" name="Oval 9"/>
          <p:cNvSpPr/>
          <p:nvPr/>
        </p:nvSpPr>
        <p:spPr>
          <a:xfrm>
            <a:off x="621792" y="2267712"/>
            <a:ext cx="91440" cy="91440"/>
          </a:xfrm>
          <a:prstGeom prst="ellipse">
            <a:avLst/>
          </a:prstGeom>
          <a:solidFill>
            <a:srgbClr val="E877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41248" y="2194560"/>
            <a:ext cx="36118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80" b="0" i="0">
                <a:solidFill>
                  <a:srgbClr val="374151"/>
                </a:solidFill>
                <a:latin typeface="Calibri"/>
              </a:rPr>
              <a:t>No requiere instalar Flutter ni Android Studio</a:t>
            </a:r>
          </a:p>
        </p:txBody>
      </p:sp>
      <p:sp>
        <p:nvSpPr>
          <p:cNvPr id="12" name="Oval 11"/>
          <p:cNvSpPr/>
          <p:nvPr/>
        </p:nvSpPr>
        <p:spPr>
          <a:xfrm>
            <a:off x="621792" y="2724912"/>
            <a:ext cx="91440" cy="91440"/>
          </a:xfrm>
          <a:prstGeom prst="ellipse">
            <a:avLst/>
          </a:prstGeom>
          <a:solidFill>
            <a:srgbClr val="E877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41248" y="2651760"/>
            <a:ext cx="36118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80" b="0" i="0">
                <a:solidFill>
                  <a:srgbClr val="374151"/>
                </a:solidFill>
                <a:latin typeface="Calibri"/>
              </a:rPr>
              <a:t>Perfecto para practicar sintaxis y logica pura</a:t>
            </a:r>
          </a:p>
        </p:txBody>
      </p:sp>
      <p:sp>
        <p:nvSpPr>
          <p:cNvPr id="14" name="Oval 13"/>
          <p:cNvSpPr/>
          <p:nvPr/>
        </p:nvSpPr>
        <p:spPr>
          <a:xfrm>
            <a:off x="621792" y="3182112"/>
            <a:ext cx="91440" cy="91440"/>
          </a:xfrm>
          <a:prstGeom prst="ellipse">
            <a:avLst/>
          </a:prstGeom>
          <a:solidFill>
            <a:srgbClr val="E877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41248" y="3108960"/>
            <a:ext cx="36118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80" b="0" i="0">
                <a:solidFill>
                  <a:srgbClr val="374151"/>
                </a:solidFill>
                <a:latin typeface="Calibri"/>
              </a:rPr>
              <a:t>Guarda y comparte tu codigo con un link</a:t>
            </a:r>
          </a:p>
        </p:txBody>
      </p:sp>
      <p:sp>
        <p:nvSpPr>
          <p:cNvPr id="16" name="Oval 15"/>
          <p:cNvSpPr/>
          <p:nvPr/>
        </p:nvSpPr>
        <p:spPr>
          <a:xfrm>
            <a:off x="621792" y="3639312"/>
            <a:ext cx="91440" cy="91440"/>
          </a:xfrm>
          <a:prstGeom prst="ellipse">
            <a:avLst/>
          </a:prstGeom>
          <a:solidFill>
            <a:srgbClr val="E877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41248" y="3566160"/>
            <a:ext cx="36118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80" b="0" i="0">
                <a:solidFill>
                  <a:srgbClr val="374151"/>
                </a:solidFill>
                <a:latin typeface="Calibri"/>
              </a:rPr>
              <a:t>Ideal para hoy: muchos aun instalando el entorno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754880" y="1143000"/>
            <a:ext cx="4023360" cy="3383280"/>
          </a:xfrm>
          <a:prstGeom prst="rect">
            <a:avLst/>
          </a:prstGeom>
          <a:solidFill>
            <a:srgbClr val="1B2F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983480" y="1325880"/>
            <a:ext cx="35661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E87722"/>
                </a:solidFill>
                <a:latin typeface="Calibri"/>
              </a:rPr>
              <a:t>Como usarlo hoy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983480" y="1691640"/>
            <a:ext cx="36118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  <a:latin typeface="Calibri"/>
              </a:rPr>
              <a:t>1. Ve a dartpad.dev en tu navegador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983480" y="2112264"/>
            <a:ext cx="36118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  <a:latin typeface="Calibri"/>
              </a:rPr>
              <a:t>2. Borra el codigo de ejemplo si quieres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983480" y="2532888"/>
            <a:ext cx="36118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  <a:latin typeface="Calibri"/>
              </a:rPr>
              <a:t>3. Escribe tu codigo Dart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983480" y="2953512"/>
            <a:ext cx="36118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  <a:latin typeface="Calibri"/>
              </a:rPr>
              <a:t>4. Presiona Run (o Ctrl+Enter)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983480" y="3374136"/>
            <a:ext cx="36118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  <a:latin typeface="Calibri"/>
              </a:rPr>
              <a:t>5. El resultado aparece a la derecha</a:t>
            </a:r>
          </a:p>
        </p:txBody>
      </p:sp>
      <p:sp>
        <p:nvSpPr>
          <p:cNvPr id="25" name="Rectangle 24"/>
          <p:cNvSpPr/>
          <p:nvPr/>
        </p:nvSpPr>
        <p:spPr>
          <a:xfrm>
            <a:off x="4983480" y="3977639"/>
            <a:ext cx="3383280" cy="365760"/>
          </a:xfrm>
          <a:prstGeom prst="rect">
            <a:avLst/>
          </a:prstGeom>
          <a:solidFill>
            <a:srgbClr val="E877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983480" y="4023360"/>
            <a:ext cx="33832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dartpad.dev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E877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164592"/>
            <a:ext cx="7315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E87722"/>
                </a:solidFill>
                <a:latin typeface="Calibri"/>
              </a:rPr>
              <a:t>TU PRIMER PROGRAMA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457200"/>
            <a:ext cx="8229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700" b="1" i="0">
                <a:solidFill>
                  <a:srgbClr val="1B2F5B"/>
                </a:solidFill>
                <a:latin typeface="Calibri"/>
              </a:rPr>
              <a:t>Hola Mundo en Dart</a:t>
            </a:r>
          </a:p>
        </p:txBody>
      </p:sp>
      <p:sp>
        <p:nvSpPr>
          <p:cNvPr id="6" name="Rectangle 5"/>
          <p:cNvSpPr/>
          <p:nvPr/>
        </p:nvSpPr>
        <p:spPr>
          <a:xfrm>
            <a:off x="365760" y="1143000"/>
            <a:ext cx="5120640" cy="1554480"/>
          </a:xfrm>
          <a:prstGeom prst="rect">
            <a:avLst/>
          </a:prstGeom>
          <a:solidFill>
            <a:srgbClr val="1E1E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493776" y="1261872"/>
            <a:ext cx="91440" cy="91440"/>
          </a:xfrm>
          <a:prstGeom prst="ellipse">
            <a:avLst/>
          </a:prstGeom>
          <a:solidFill>
            <a:srgbClr val="FF5F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640080" y="1261872"/>
            <a:ext cx="91440" cy="91440"/>
          </a:xfrm>
          <a:prstGeom prst="ellipse">
            <a:avLst/>
          </a:prstGeom>
          <a:solidFill>
            <a:srgbClr val="FFBD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786384" y="1261872"/>
            <a:ext cx="91440" cy="91440"/>
          </a:xfrm>
          <a:prstGeom prst="ellipse">
            <a:avLst/>
          </a:prstGeom>
          <a:solidFill>
            <a:srgbClr val="27C9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60120" y="1197864"/>
            <a:ext cx="43891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A0AABB"/>
                </a:solidFill>
                <a:latin typeface="Consolas"/>
              </a:rPr>
              <a:t>main.dart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21792" y="1527048"/>
            <a:ext cx="466344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>
                <a:solidFill>
                  <a:srgbClr val="F5A623"/>
                </a:solidFill>
                <a:latin typeface="Consolas"/>
              </a:rPr>
              <a:t>void</a:t>
            </a:r>
            <a:r>
              <a:rPr sz="1250">
                <a:solidFill>
                  <a:srgbClr val="E4E4EF"/>
                </a:solidFill>
                <a:latin typeface="Consolas"/>
              </a:rPr>
              <a:t> main() {</a:t>
            </a:r>
          </a:p>
          <a:p>
            <a:pPr algn="l"/>
            <a:r>
              <a:rPr sz="1250">
                <a:solidFill>
                  <a:srgbClr val="E4E4EF"/>
                </a:solidFill>
                <a:latin typeface="Consolas"/>
              </a:rPr>
              <a:t>  print(</a:t>
            </a:r>
            <a:r>
              <a:rPr sz="1250">
                <a:solidFill>
                  <a:srgbClr val="8BD47E"/>
                </a:solidFill>
                <a:latin typeface="Consolas"/>
              </a:rPr>
              <a:t>'Hola, Pascual Bravo!'</a:t>
            </a:r>
            <a:r>
              <a:rPr sz="1250">
                <a:solidFill>
                  <a:srgbClr val="E4E4EF"/>
                </a:solidFill>
                <a:latin typeface="Consolas"/>
              </a:rPr>
              <a:t>);</a:t>
            </a:r>
          </a:p>
          <a:p>
            <a:pPr algn="l"/>
            <a:r>
              <a:rPr sz="1250">
                <a:solidFill>
                  <a:srgbClr val="E4E4EF"/>
                </a:solidFill>
                <a:latin typeface="Consolas"/>
              </a:rPr>
              <a:t>}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715000" y="1234440"/>
            <a:ext cx="30632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B2F5B"/>
                </a:solidFill>
                <a:latin typeface="Calibri"/>
              </a:rPr>
              <a:t>Todo programa Dart empieza en main()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715000" y="1737360"/>
            <a:ext cx="306324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1030" b="0">
                <a:solidFill>
                  <a:srgbClr val="374151"/>
                </a:solidFill>
                <a:latin typeface="Calibri"/>
              </a:rPr>
              <a:t>void  -&gt; esta funcion no retorna ningun valor</a:t>
            </a:r>
          </a:p>
          <a:p>
            <a:pPr algn="l">
              <a:spcAft>
                <a:spcPts val="800"/>
              </a:spcAft>
            </a:pPr>
            <a:r>
              <a:rPr sz="1030" b="0">
                <a:solidFill>
                  <a:srgbClr val="374151"/>
                </a:solidFill>
                <a:latin typeface="Calibri"/>
              </a:rPr>
              <a:t>main()  -&gt; punto de entrada, se ejecuta primero</a:t>
            </a:r>
          </a:p>
          <a:p>
            <a:pPr algn="l">
              <a:spcAft>
                <a:spcPts val="800"/>
              </a:spcAft>
            </a:pPr>
            <a:r>
              <a:rPr sz="1030" b="0">
                <a:solidFill>
                  <a:srgbClr val="374151"/>
                </a:solidFill>
                <a:latin typeface="Calibri"/>
              </a:rPr>
              <a:t>print()  -&gt; muestra texto en la consola</a:t>
            </a:r>
          </a:p>
          <a:p>
            <a:pPr algn="l">
              <a:spcAft>
                <a:spcPts val="800"/>
              </a:spcAft>
            </a:pPr>
            <a:r>
              <a:rPr sz="1030" b="0">
                <a:solidFill>
                  <a:srgbClr val="374151"/>
                </a:solidFill>
                <a:latin typeface="Calibri"/>
              </a:rPr>
              <a:t>' '  -&gt; el texto entre comillas es un String</a:t>
            </a:r>
          </a:p>
          <a:p>
            <a:pPr algn="l">
              <a:spcAft>
                <a:spcPts val="800"/>
              </a:spcAft>
            </a:pPr>
            <a:r>
              <a:rPr sz="1030" b="0">
                <a:solidFill>
                  <a:srgbClr val="374151"/>
                </a:solidFill>
                <a:latin typeface="Calibri"/>
              </a:rPr>
              <a:t>;  -&gt; cada instruccion termina en punto y coma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65760" y="2926080"/>
            <a:ext cx="5120640" cy="1417320"/>
          </a:xfrm>
          <a:prstGeom prst="rect">
            <a:avLst/>
          </a:prstGeom>
          <a:solidFill>
            <a:srgbClr val="FFF7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94360" y="3063240"/>
            <a:ext cx="46634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E87722"/>
                </a:solidFill>
                <a:latin typeface="Calibri"/>
              </a:rPr>
              <a:t>Prueba tu en DartPad ahora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94360" y="3429000"/>
            <a:ext cx="46634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>
                <a:solidFill>
                  <a:srgbClr val="374151"/>
                </a:solidFill>
                <a:latin typeface="Calibri"/>
              </a:rPr>
              <a:t>Escribe un programa que imprima tu nombre</a:t>
            </a:r>
          </a:p>
          <a:p>
            <a:pPr algn="l"/>
            <a:r>
              <a:rPr sz="1050" b="0">
                <a:solidFill>
                  <a:srgbClr val="374151"/>
                </a:solidFill>
                <a:latin typeface="Calibri"/>
              </a:rPr>
              <a:t>y el nombre de tu proyecto final (aunque</a:t>
            </a:r>
          </a:p>
          <a:p>
            <a:pPr algn="l"/>
            <a:r>
              <a:rPr sz="1050" b="0">
                <a:solidFill>
                  <a:srgbClr val="374151"/>
                </a:solidFill>
                <a:latin typeface="Calibri"/>
              </a:rPr>
              <a:t>todavia no lo tengas definido del todo).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E877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164592"/>
            <a:ext cx="7315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E87722"/>
                </a:solidFill>
                <a:latin typeface="Calibri"/>
              </a:rPr>
              <a:t>DATOS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457200"/>
            <a:ext cx="8229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700" b="1" i="0">
                <a:solidFill>
                  <a:srgbClr val="1B2F5B"/>
                </a:solidFill>
                <a:latin typeface="Calibri"/>
              </a:rPr>
              <a:t>Variables y tipos</a:t>
            </a:r>
          </a:p>
        </p:txBody>
      </p:sp>
      <p:sp>
        <p:nvSpPr>
          <p:cNvPr id="6" name="Rectangle 5"/>
          <p:cNvSpPr/>
          <p:nvPr/>
        </p:nvSpPr>
        <p:spPr>
          <a:xfrm>
            <a:off x="365760" y="1143000"/>
            <a:ext cx="5120640" cy="3566160"/>
          </a:xfrm>
          <a:prstGeom prst="rect">
            <a:avLst/>
          </a:prstGeom>
          <a:solidFill>
            <a:srgbClr val="1E1E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493776" y="1261872"/>
            <a:ext cx="91440" cy="91440"/>
          </a:xfrm>
          <a:prstGeom prst="ellipse">
            <a:avLst/>
          </a:prstGeom>
          <a:solidFill>
            <a:srgbClr val="FF5F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640080" y="1261872"/>
            <a:ext cx="91440" cy="91440"/>
          </a:xfrm>
          <a:prstGeom prst="ellipse">
            <a:avLst/>
          </a:prstGeom>
          <a:solidFill>
            <a:srgbClr val="FFBD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786384" y="1261872"/>
            <a:ext cx="91440" cy="91440"/>
          </a:xfrm>
          <a:prstGeom prst="ellipse">
            <a:avLst/>
          </a:prstGeom>
          <a:solidFill>
            <a:srgbClr val="27C9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60120" y="1197864"/>
            <a:ext cx="43891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A0AABB"/>
                </a:solidFill>
                <a:latin typeface="Consolas"/>
              </a:rPr>
              <a:t>variables.dart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21792" y="1527048"/>
            <a:ext cx="4663440" cy="30632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>
                <a:solidFill>
                  <a:srgbClr val="C79BF5"/>
                </a:solidFill>
                <a:latin typeface="Consolas"/>
              </a:rPr>
              <a:t>String</a:t>
            </a:r>
            <a:r>
              <a:rPr sz="1150">
                <a:solidFill>
                  <a:srgbClr val="E4E4EF"/>
                </a:solidFill>
                <a:latin typeface="Consolas"/>
              </a:rPr>
              <a:t> nombre = </a:t>
            </a:r>
            <a:r>
              <a:rPr sz="1150">
                <a:solidFill>
                  <a:srgbClr val="8BD47E"/>
                </a:solidFill>
                <a:latin typeface="Consolas"/>
              </a:rPr>
              <a:t>'Ana'</a:t>
            </a:r>
            <a:r>
              <a:rPr sz="1150">
                <a:solidFill>
                  <a:srgbClr val="E4E4EF"/>
                </a:solidFill>
                <a:latin typeface="Consolas"/>
              </a:rPr>
              <a:t>;</a:t>
            </a:r>
          </a:p>
          <a:p>
            <a:pPr algn="l"/>
            <a:r>
              <a:rPr sz="1150">
                <a:solidFill>
                  <a:srgbClr val="C79BF5"/>
                </a:solidFill>
                <a:latin typeface="Consolas"/>
              </a:rPr>
              <a:t>int</a:t>
            </a:r>
            <a:r>
              <a:rPr sz="1150">
                <a:solidFill>
                  <a:srgbClr val="E4E4EF"/>
                </a:solidFill>
                <a:latin typeface="Consolas"/>
              </a:rPr>
              <a:t> edad = </a:t>
            </a:r>
            <a:r>
              <a:rPr sz="1150">
                <a:solidFill>
                  <a:srgbClr val="7DC4E8"/>
                </a:solidFill>
                <a:latin typeface="Consolas"/>
              </a:rPr>
              <a:t>20</a:t>
            </a:r>
            <a:r>
              <a:rPr sz="1150">
                <a:solidFill>
                  <a:srgbClr val="E4E4EF"/>
                </a:solidFill>
                <a:latin typeface="Consolas"/>
              </a:rPr>
              <a:t>;</a:t>
            </a:r>
          </a:p>
          <a:p>
            <a:pPr algn="l"/>
            <a:r>
              <a:rPr sz="1150">
                <a:solidFill>
                  <a:srgbClr val="C79BF5"/>
                </a:solidFill>
                <a:latin typeface="Consolas"/>
              </a:rPr>
              <a:t>double</a:t>
            </a:r>
            <a:r>
              <a:rPr sz="1150">
                <a:solidFill>
                  <a:srgbClr val="E4E4EF"/>
                </a:solidFill>
                <a:latin typeface="Consolas"/>
              </a:rPr>
              <a:t> promedio = </a:t>
            </a:r>
            <a:r>
              <a:rPr sz="1150">
                <a:solidFill>
                  <a:srgbClr val="7DC4E8"/>
                </a:solidFill>
                <a:latin typeface="Consolas"/>
              </a:rPr>
              <a:t>4.5</a:t>
            </a:r>
            <a:r>
              <a:rPr sz="1150">
                <a:solidFill>
                  <a:srgbClr val="E4E4EF"/>
                </a:solidFill>
                <a:latin typeface="Consolas"/>
              </a:rPr>
              <a:t>;</a:t>
            </a:r>
          </a:p>
          <a:p>
            <a:pPr algn="l"/>
            <a:r>
              <a:rPr sz="1150">
                <a:solidFill>
                  <a:srgbClr val="C79BF5"/>
                </a:solidFill>
                <a:latin typeface="Consolas"/>
              </a:rPr>
              <a:t>bool</a:t>
            </a:r>
            <a:r>
              <a:rPr sz="1150">
                <a:solidFill>
                  <a:srgbClr val="E4E4EF"/>
                </a:solidFill>
                <a:latin typeface="Consolas"/>
              </a:rPr>
              <a:t> aprobado = </a:t>
            </a:r>
            <a:r>
              <a:rPr sz="1150">
                <a:solidFill>
                  <a:srgbClr val="F5A623"/>
                </a:solidFill>
                <a:latin typeface="Consolas"/>
              </a:rPr>
              <a:t>true</a:t>
            </a:r>
            <a:r>
              <a:rPr sz="1150">
                <a:solidFill>
                  <a:srgbClr val="E4E4EF"/>
                </a:solidFill>
                <a:latin typeface="Consolas"/>
              </a:rPr>
              <a:t>;</a:t>
            </a:r>
          </a:p>
          <a:p>
            <a:pPr algn="l"/>
            <a:r>
              <a:rPr sz="1150">
                <a:solidFill>
                  <a:srgbClr val="E4E4EF"/>
                </a:solidFill>
                <a:latin typeface="Consolas"/>
              </a:rPr>
              <a:t> </a:t>
            </a:r>
          </a:p>
          <a:p>
            <a:pPr algn="l"/>
            <a:r>
              <a:rPr sz="1150">
                <a:solidFill>
                  <a:srgbClr val="6B7280"/>
                </a:solidFill>
                <a:latin typeface="Consolas"/>
              </a:rPr>
              <a:t>// Dart infiere el tipo automaticamente</a:t>
            </a:r>
          </a:p>
          <a:p>
            <a:pPr algn="l"/>
            <a:r>
              <a:rPr sz="1150">
                <a:solidFill>
                  <a:srgbClr val="F5A623"/>
                </a:solidFill>
                <a:latin typeface="Consolas"/>
              </a:rPr>
              <a:t>var</a:t>
            </a:r>
            <a:r>
              <a:rPr sz="1150">
                <a:solidFill>
                  <a:srgbClr val="E4E4EF"/>
                </a:solidFill>
                <a:latin typeface="Consolas"/>
              </a:rPr>
              <a:t> ciudad = </a:t>
            </a:r>
            <a:r>
              <a:rPr sz="1150">
                <a:solidFill>
                  <a:srgbClr val="8BD47E"/>
                </a:solidFill>
                <a:latin typeface="Consolas"/>
              </a:rPr>
              <a:t>'Medellin'</a:t>
            </a:r>
            <a:r>
              <a:rPr sz="1150">
                <a:solidFill>
                  <a:srgbClr val="E4E4EF"/>
                </a:solidFill>
                <a:latin typeface="Consolas"/>
              </a:rPr>
              <a:t>;</a:t>
            </a:r>
          </a:p>
          <a:p>
            <a:pPr algn="l"/>
            <a:r>
              <a:rPr sz="1150">
                <a:solidFill>
                  <a:srgbClr val="E4E4EF"/>
                </a:solidFill>
                <a:latin typeface="Consolas"/>
              </a:rPr>
              <a:t> </a:t>
            </a:r>
          </a:p>
          <a:p>
            <a:pPr algn="l"/>
            <a:r>
              <a:rPr sz="1150">
                <a:solidFill>
                  <a:srgbClr val="6B7280"/>
                </a:solidFill>
                <a:latin typeface="Consolas"/>
              </a:rPr>
              <a:t>// final y const: no cambian de valor</a:t>
            </a:r>
          </a:p>
          <a:p>
            <a:pPr algn="l"/>
            <a:r>
              <a:rPr sz="1150">
                <a:solidFill>
                  <a:srgbClr val="F5A623"/>
                </a:solidFill>
                <a:latin typeface="Consolas"/>
              </a:rPr>
              <a:t>final</a:t>
            </a:r>
            <a:r>
              <a:rPr sz="1150">
                <a:solidFill>
                  <a:srgbClr val="E4E4EF"/>
                </a:solidFill>
                <a:latin typeface="Consolas"/>
              </a:rPr>
              <a:t> fechaInicio = </a:t>
            </a:r>
            <a:r>
              <a:rPr sz="1150">
                <a:solidFill>
                  <a:srgbClr val="8BD47E"/>
                </a:solidFill>
                <a:latin typeface="Consolas"/>
              </a:rPr>
              <a:t>'Ago 2026'</a:t>
            </a:r>
            <a:r>
              <a:rPr sz="1150">
                <a:solidFill>
                  <a:srgbClr val="E4E4EF"/>
                </a:solidFill>
                <a:latin typeface="Consolas"/>
              </a:rPr>
              <a:t>;</a:t>
            </a:r>
          </a:p>
          <a:p>
            <a:pPr algn="l"/>
            <a:r>
              <a:rPr sz="1150">
                <a:solidFill>
                  <a:srgbClr val="F5A623"/>
                </a:solidFill>
                <a:latin typeface="Consolas"/>
              </a:rPr>
              <a:t>const</a:t>
            </a:r>
            <a:r>
              <a:rPr sz="1150">
                <a:solidFill>
                  <a:srgbClr val="E4E4EF"/>
                </a:solidFill>
                <a:latin typeface="Consolas"/>
              </a:rPr>
              <a:t> pi = </a:t>
            </a:r>
            <a:r>
              <a:rPr sz="1150">
                <a:solidFill>
                  <a:srgbClr val="7DC4E8"/>
                </a:solidFill>
                <a:latin typeface="Consolas"/>
              </a:rPr>
              <a:t>3.1416</a:t>
            </a:r>
            <a:r>
              <a:rPr sz="1150">
                <a:solidFill>
                  <a:srgbClr val="E4E4EF"/>
                </a:solidFill>
                <a:latin typeface="Consolas"/>
              </a:rPr>
              <a:t>;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715000" y="1188720"/>
            <a:ext cx="30632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B2F5B"/>
                </a:solidFill>
                <a:latin typeface="Calibri"/>
              </a:rPr>
              <a:t>Tipos basicos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715000" y="1600200"/>
            <a:ext cx="777240" cy="292608"/>
          </a:xfrm>
          <a:prstGeom prst="rect">
            <a:avLst/>
          </a:prstGeom>
          <a:solidFill>
            <a:srgbClr val="1B2F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715000" y="1627632"/>
            <a:ext cx="77724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Calibri"/>
              </a:rPr>
              <a:t>String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583680" y="1618488"/>
            <a:ext cx="21945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374151"/>
                </a:solidFill>
                <a:latin typeface="Calibri"/>
              </a:rPr>
              <a:t>Texto entre comillas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715000" y="2075688"/>
            <a:ext cx="777240" cy="292608"/>
          </a:xfrm>
          <a:prstGeom prst="rect">
            <a:avLst/>
          </a:prstGeom>
          <a:solidFill>
            <a:srgbClr val="1B2F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715000" y="2103120"/>
            <a:ext cx="77724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Calibri"/>
              </a:rPr>
              <a:t>int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583680" y="2093976"/>
            <a:ext cx="21945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374151"/>
                </a:solidFill>
                <a:latin typeface="Calibri"/>
              </a:rPr>
              <a:t>Numeros enteros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715000" y="2551176"/>
            <a:ext cx="777240" cy="292608"/>
          </a:xfrm>
          <a:prstGeom prst="rect">
            <a:avLst/>
          </a:prstGeom>
          <a:solidFill>
            <a:srgbClr val="1B2F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715000" y="2578608"/>
            <a:ext cx="77724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Calibri"/>
              </a:rPr>
              <a:t>double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583680" y="2569464"/>
            <a:ext cx="21945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374151"/>
                </a:solidFill>
                <a:latin typeface="Calibri"/>
              </a:rPr>
              <a:t>Numeros decimales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715000" y="3026664"/>
            <a:ext cx="777240" cy="292608"/>
          </a:xfrm>
          <a:prstGeom prst="rect">
            <a:avLst/>
          </a:prstGeom>
          <a:solidFill>
            <a:srgbClr val="1B2F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715000" y="3054096"/>
            <a:ext cx="77724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Calibri"/>
              </a:rPr>
              <a:t>bool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583680" y="3044952"/>
            <a:ext cx="21945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374151"/>
                </a:solidFill>
                <a:latin typeface="Calibri"/>
              </a:rPr>
              <a:t>true / false</a:t>
            </a:r>
          </a:p>
        </p:txBody>
      </p:sp>
      <p:sp>
        <p:nvSpPr>
          <p:cNvPr id="25" name="Rectangle 24"/>
          <p:cNvSpPr/>
          <p:nvPr/>
        </p:nvSpPr>
        <p:spPr>
          <a:xfrm>
            <a:off x="5715000" y="3611880"/>
            <a:ext cx="3063240" cy="1051560"/>
          </a:xfrm>
          <a:prstGeom prst="rect">
            <a:avLst/>
          </a:prstGeom>
          <a:solidFill>
            <a:srgbClr val="EEF2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5897880" y="3730752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 i="0">
                <a:solidFill>
                  <a:srgbClr val="1B2F5B"/>
                </a:solidFill>
                <a:latin typeface="Calibri"/>
              </a:rPr>
              <a:t>var vs final vs const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897880" y="4023360"/>
            <a:ext cx="27432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900" b="0">
                <a:solidFill>
                  <a:srgbClr val="374151"/>
                </a:solidFill>
                <a:latin typeface="Calibri"/>
              </a:rPr>
              <a:t>var: tipo inferido, puede cambiar</a:t>
            </a:r>
          </a:p>
          <a:p>
            <a:pPr algn="l">
              <a:spcAft>
                <a:spcPts val="200"/>
              </a:spcAft>
            </a:pPr>
            <a:r>
              <a:rPr sz="900" b="0">
                <a:solidFill>
                  <a:srgbClr val="374151"/>
                </a:solidFill>
                <a:latin typeface="Calibri"/>
              </a:rPr>
              <a:t>final: se asigna una sola vez</a:t>
            </a:r>
          </a:p>
          <a:p>
            <a:pPr algn="l">
              <a:spcAft>
                <a:spcPts val="200"/>
              </a:spcAft>
            </a:pPr>
            <a:r>
              <a:rPr sz="900" b="0">
                <a:solidFill>
                  <a:srgbClr val="374151"/>
                </a:solidFill>
                <a:latin typeface="Calibri"/>
              </a:rPr>
              <a:t>const: valor fijo en tiempo de compilacion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F1F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E877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164592"/>
            <a:ext cx="7315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E87722"/>
                </a:solidFill>
                <a:latin typeface="Calibri"/>
              </a:rPr>
              <a:t>LA GRAN CARACTERISTICA DE DART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457200"/>
            <a:ext cx="8229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700" b="1" i="0">
                <a:solidFill>
                  <a:srgbClr val="FFFFFF"/>
                </a:solidFill>
                <a:latin typeface="Calibri"/>
              </a:rPr>
              <a:t>Sound Null Safety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987552"/>
            <a:ext cx="82296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C8D4E8"/>
                </a:solidFill>
                <a:latin typeface="Calibri"/>
              </a:rPr>
              <a:t>El compilador te protege de uno de los errores mas comunes en programacion</a:t>
            </a:r>
          </a:p>
        </p:txBody>
      </p:sp>
      <p:sp>
        <p:nvSpPr>
          <p:cNvPr id="7" name="Rectangle 6"/>
          <p:cNvSpPr/>
          <p:nvPr/>
        </p:nvSpPr>
        <p:spPr>
          <a:xfrm>
            <a:off x="365760" y="1417320"/>
            <a:ext cx="5212080" cy="3291840"/>
          </a:xfrm>
          <a:prstGeom prst="rect">
            <a:avLst/>
          </a:prstGeom>
          <a:solidFill>
            <a:srgbClr val="1E1E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493776" y="1536192"/>
            <a:ext cx="91440" cy="91440"/>
          </a:xfrm>
          <a:prstGeom prst="ellipse">
            <a:avLst/>
          </a:prstGeom>
          <a:solidFill>
            <a:srgbClr val="FF5F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640080" y="1536192"/>
            <a:ext cx="91440" cy="91440"/>
          </a:xfrm>
          <a:prstGeom prst="ellipse">
            <a:avLst/>
          </a:prstGeom>
          <a:solidFill>
            <a:srgbClr val="FFBD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786384" y="1536192"/>
            <a:ext cx="91440" cy="91440"/>
          </a:xfrm>
          <a:prstGeom prst="ellipse">
            <a:avLst/>
          </a:prstGeom>
          <a:solidFill>
            <a:srgbClr val="27C9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60120" y="1472184"/>
            <a:ext cx="44805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A0AABB"/>
                </a:solidFill>
                <a:latin typeface="Consolas"/>
              </a:rPr>
              <a:t>null_safety.dart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21792" y="1801368"/>
            <a:ext cx="4754880" cy="2788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>
                <a:solidFill>
                  <a:srgbClr val="6B7280"/>
                </a:solidFill>
                <a:latin typeface="Consolas"/>
              </a:rPr>
              <a:t>// Por defecto, una variable NO puede ser null</a:t>
            </a:r>
          </a:p>
          <a:p>
            <a:pPr algn="l"/>
            <a:r>
              <a:rPr sz="1100">
                <a:solidFill>
                  <a:srgbClr val="C79BF5"/>
                </a:solidFill>
                <a:latin typeface="Consolas"/>
              </a:rPr>
              <a:t>String</a:t>
            </a:r>
            <a:r>
              <a:rPr sz="1100">
                <a:solidFill>
                  <a:srgbClr val="E4E4EF"/>
                </a:solidFill>
                <a:latin typeface="Consolas"/>
              </a:rPr>
              <a:t> nombre = </a:t>
            </a:r>
            <a:r>
              <a:rPr sz="1100">
                <a:solidFill>
                  <a:srgbClr val="8BD47E"/>
                </a:solidFill>
                <a:latin typeface="Consolas"/>
              </a:rPr>
              <a:t>'Carlos'</a:t>
            </a:r>
            <a:r>
              <a:rPr sz="1100">
                <a:solidFill>
                  <a:srgbClr val="E4E4EF"/>
                </a:solidFill>
                <a:latin typeface="Consolas"/>
              </a:rPr>
              <a:t>;</a:t>
            </a:r>
          </a:p>
          <a:p>
            <a:pPr algn="l"/>
            <a:r>
              <a:rPr sz="1100">
                <a:solidFill>
                  <a:srgbClr val="E4E4EF"/>
                </a:solidFill>
                <a:latin typeface="Consolas"/>
              </a:rPr>
              <a:t>nombre = </a:t>
            </a:r>
            <a:r>
              <a:rPr sz="1100">
                <a:solidFill>
                  <a:srgbClr val="F5A623"/>
                </a:solidFill>
                <a:latin typeface="Consolas"/>
              </a:rPr>
              <a:t>null</a:t>
            </a:r>
            <a:r>
              <a:rPr sz="1100">
                <a:solidFill>
                  <a:srgbClr val="E4E4EF"/>
                </a:solidFill>
                <a:latin typeface="Consolas"/>
              </a:rPr>
              <a:t>;  </a:t>
            </a:r>
            <a:r>
              <a:rPr sz="1100">
                <a:solidFill>
                  <a:srgbClr val="6B7280"/>
                </a:solidFill>
                <a:latin typeface="Consolas"/>
              </a:rPr>
              <a:t>// ERROR de compilacion</a:t>
            </a:r>
          </a:p>
          <a:p>
            <a:pPr algn="l"/>
            <a:r>
              <a:rPr sz="1100">
                <a:solidFill>
                  <a:srgbClr val="E4E4EF"/>
                </a:solidFill>
                <a:latin typeface="Consolas"/>
              </a:rPr>
              <a:t> </a:t>
            </a:r>
          </a:p>
          <a:p>
            <a:pPr algn="l"/>
            <a:r>
              <a:rPr sz="1100">
                <a:solidFill>
                  <a:srgbClr val="6B7280"/>
                </a:solidFill>
                <a:latin typeface="Consolas"/>
              </a:rPr>
              <a:t>// Si puede ser null, se marca con ?</a:t>
            </a:r>
          </a:p>
          <a:p>
            <a:pPr algn="l"/>
            <a:r>
              <a:rPr sz="1100">
                <a:solidFill>
                  <a:srgbClr val="C79BF5"/>
                </a:solidFill>
                <a:latin typeface="Consolas"/>
              </a:rPr>
              <a:t>String</a:t>
            </a:r>
            <a:r>
              <a:rPr sz="1100">
                <a:solidFill>
                  <a:srgbClr val="E4E4EF"/>
                </a:solidFill>
                <a:latin typeface="Consolas"/>
              </a:rPr>
              <a:t>? apodo;</a:t>
            </a:r>
          </a:p>
          <a:p>
            <a:pPr algn="l"/>
            <a:r>
              <a:rPr sz="1100">
                <a:solidFill>
                  <a:srgbClr val="E4E4EF"/>
                </a:solidFill>
                <a:latin typeface="Consolas"/>
              </a:rPr>
              <a:t>apodo = </a:t>
            </a:r>
            <a:r>
              <a:rPr sz="1100">
                <a:solidFill>
                  <a:srgbClr val="F5A623"/>
                </a:solidFill>
                <a:latin typeface="Consolas"/>
              </a:rPr>
              <a:t>null</a:t>
            </a:r>
            <a:r>
              <a:rPr sz="1100">
                <a:solidFill>
                  <a:srgbClr val="E4E4EF"/>
                </a:solidFill>
                <a:latin typeface="Consolas"/>
              </a:rPr>
              <a:t>;  </a:t>
            </a:r>
            <a:r>
              <a:rPr sz="1100">
                <a:solidFill>
                  <a:srgbClr val="6B7280"/>
                </a:solidFill>
                <a:latin typeface="Consolas"/>
              </a:rPr>
              <a:t>// esto si es valido</a:t>
            </a:r>
          </a:p>
          <a:p>
            <a:pPr algn="l"/>
            <a:r>
              <a:rPr sz="1100">
                <a:solidFill>
                  <a:srgbClr val="E4E4EF"/>
                </a:solidFill>
                <a:latin typeface="Consolas"/>
              </a:rPr>
              <a:t> </a:t>
            </a:r>
          </a:p>
          <a:p>
            <a:pPr algn="l"/>
            <a:r>
              <a:rPr sz="1100">
                <a:solidFill>
                  <a:srgbClr val="6B7280"/>
                </a:solidFill>
                <a:latin typeface="Consolas"/>
              </a:rPr>
              <a:t>// El operador ! le dice a Dart 'confia en mi'</a:t>
            </a:r>
          </a:p>
          <a:p>
            <a:pPr algn="l"/>
            <a:r>
              <a:rPr sz="1100">
                <a:solidFill>
                  <a:srgbClr val="E4E4EF"/>
                </a:solidFill>
                <a:latin typeface="Consolas"/>
              </a:rPr>
              <a:t>print(apodo!.length);  </a:t>
            </a:r>
            <a:r>
              <a:rPr sz="1100">
                <a:solidFill>
                  <a:srgbClr val="6B7280"/>
                </a:solidFill>
                <a:latin typeface="Consolas"/>
              </a:rPr>
              <a:t>// riesgoso si es null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806440" y="1463040"/>
            <a:ext cx="2971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E87722"/>
                </a:solidFill>
                <a:latin typeface="Calibri"/>
              </a:rPr>
              <a:t>Por que importa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806440" y="1874519"/>
            <a:ext cx="297180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050" b="0">
                <a:solidFill>
                  <a:srgbClr val="C8D4E8"/>
                </a:solidFill>
                <a:latin typeface="Calibri"/>
              </a:rPr>
              <a:t>El error "null pointer exception" es una</a:t>
            </a:r>
          </a:p>
          <a:p>
            <a:pPr algn="l">
              <a:spcAft>
                <a:spcPts val="400"/>
              </a:spcAft>
            </a:pPr>
            <a:r>
              <a:rPr sz="1050" b="0">
                <a:solidFill>
                  <a:srgbClr val="C8D4E8"/>
                </a:solidFill>
                <a:latin typeface="Calibri"/>
              </a:rPr>
              <a:t>de las causas mas comunes de que una app</a:t>
            </a:r>
          </a:p>
          <a:p>
            <a:pPr algn="l">
              <a:spcAft>
                <a:spcPts val="400"/>
              </a:spcAft>
            </a:pPr>
            <a:r>
              <a:rPr sz="1050" b="0">
                <a:solidFill>
                  <a:srgbClr val="C8D4E8"/>
                </a:solidFill>
                <a:latin typeface="Calibri"/>
              </a:rPr>
              <a:t>se cierre inesperadamente.</a:t>
            </a:r>
          </a:p>
          <a:p>
            <a:pPr algn="l">
              <a:spcAft>
                <a:spcPts val="400"/>
              </a:spcAft>
            </a:pPr>
            <a:r>
              <a:rPr sz="1050" b="0">
                <a:solidFill>
                  <a:srgbClr val="C8D4E8"/>
                </a:solidFill>
                <a:latin typeface="Calibri"/>
              </a:rPr>
              <a:t/>
            </a:r>
          </a:p>
          <a:p>
            <a:pPr algn="l">
              <a:spcAft>
                <a:spcPts val="400"/>
              </a:spcAft>
            </a:pPr>
            <a:r>
              <a:rPr sz="1050" b="0">
                <a:solidFill>
                  <a:srgbClr val="C8D4E8"/>
                </a:solidFill>
                <a:latin typeface="Calibri"/>
              </a:rPr>
              <a:t>Dart obliga a decidir, al escribir el codigo,</a:t>
            </a:r>
          </a:p>
          <a:p>
            <a:pPr algn="l">
              <a:spcAft>
                <a:spcPts val="400"/>
              </a:spcAft>
            </a:pPr>
            <a:r>
              <a:rPr sz="1050" b="0">
                <a:solidFill>
                  <a:srgbClr val="C8D4E8"/>
                </a:solidFill>
                <a:latin typeface="Calibri"/>
              </a:rPr>
              <a:t>si un dato puede faltar o no. Este chequeo</a:t>
            </a:r>
          </a:p>
          <a:p>
            <a:pPr algn="l">
              <a:spcAft>
                <a:spcPts val="400"/>
              </a:spcAft>
            </a:pPr>
            <a:r>
              <a:rPr sz="1050" b="0">
                <a:solidFill>
                  <a:srgbClr val="C8D4E8"/>
                </a:solidFill>
                <a:latin typeface="Calibri"/>
              </a:rPr>
              <a:t>ocurre antes de ejecutar la app.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806440" y="4069080"/>
            <a:ext cx="2971800" cy="594360"/>
          </a:xfrm>
          <a:prstGeom prst="rect">
            <a:avLst/>
          </a:prstGeom>
          <a:solidFill>
            <a:srgbClr val="E877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806440" y="4160520"/>
            <a:ext cx="2971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80" b="1" i="0">
                <a:solidFill>
                  <a:srgbClr val="FFFFFF"/>
                </a:solidFill>
                <a:latin typeface="Calibri"/>
              </a:rPr>
              <a:t>? = puede ser null   ! = confio en que no lo es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E877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164592"/>
            <a:ext cx="7315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E87722"/>
                </a:solidFill>
                <a:latin typeface="Calibri"/>
              </a:rPr>
              <a:t>REUTILIZAR LOGICA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457200"/>
            <a:ext cx="8229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700" b="1" i="0">
                <a:solidFill>
                  <a:srgbClr val="1B2F5B"/>
                </a:solidFill>
                <a:latin typeface="Calibri"/>
              </a:rPr>
              <a:t>Funciones</a:t>
            </a:r>
          </a:p>
        </p:txBody>
      </p:sp>
      <p:sp>
        <p:nvSpPr>
          <p:cNvPr id="6" name="Rectangle 5"/>
          <p:cNvSpPr/>
          <p:nvPr/>
        </p:nvSpPr>
        <p:spPr>
          <a:xfrm>
            <a:off x="365760" y="1143000"/>
            <a:ext cx="8412480" cy="3063240"/>
          </a:xfrm>
          <a:prstGeom prst="rect">
            <a:avLst/>
          </a:prstGeom>
          <a:solidFill>
            <a:srgbClr val="1E1E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493776" y="1261872"/>
            <a:ext cx="91440" cy="91440"/>
          </a:xfrm>
          <a:prstGeom prst="ellipse">
            <a:avLst/>
          </a:prstGeom>
          <a:solidFill>
            <a:srgbClr val="FF5F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640080" y="1261872"/>
            <a:ext cx="91440" cy="91440"/>
          </a:xfrm>
          <a:prstGeom prst="ellipse">
            <a:avLst/>
          </a:prstGeom>
          <a:solidFill>
            <a:srgbClr val="FFBD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786384" y="1261872"/>
            <a:ext cx="91440" cy="91440"/>
          </a:xfrm>
          <a:prstGeom prst="ellipse">
            <a:avLst/>
          </a:prstGeom>
          <a:solidFill>
            <a:srgbClr val="27C9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60120" y="1197864"/>
            <a:ext cx="7680959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A0AABB"/>
                </a:solidFill>
                <a:latin typeface="Consolas"/>
              </a:rPr>
              <a:t>funciones.dart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21792" y="1527048"/>
            <a:ext cx="7955279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>
                <a:solidFill>
                  <a:srgbClr val="6B7280"/>
                </a:solidFill>
                <a:latin typeface="Consolas"/>
              </a:rPr>
              <a:t>// Funcion clasica</a:t>
            </a:r>
          </a:p>
          <a:p>
            <a:pPr algn="l"/>
            <a:r>
              <a:rPr sz="1200">
                <a:solidFill>
                  <a:srgbClr val="C79BF5"/>
                </a:solidFill>
                <a:latin typeface="Consolas"/>
              </a:rPr>
              <a:t>int</a:t>
            </a:r>
            <a:r>
              <a:rPr sz="1200">
                <a:solidFill>
                  <a:srgbClr val="E4E4EF"/>
                </a:solidFill>
                <a:latin typeface="Consolas"/>
              </a:rPr>
              <a:t> sumar(</a:t>
            </a:r>
            <a:r>
              <a:rPr sz="1200">
                <a:solidFill>
                  <a:srgbClr val="C79BF5"/>
                </a:solidFill>
                <a:latin typeface="Consolas"/>
              </a:rPr>
              <a:t>int</a:t>
            </a:r>
            <a:r>
              <a:rPr sz="1200">
                <a:solidFill>
                  <a:srgbClr val="E4E4EF"/>
                </a:solidFill>
                <a:latin typeface="Consolas"/>
              </a:rPr>
              <a:t> a, </a:t>
            </a:r>
            <a:r>
              <a:rPr sz="1200">
                <a:solidFill>
                  <a:srgbClr val="C79BF5"/>
                </a:solidFill>
                <a:latin typeface="Consolas"/>
              </a:rPr>
              <a:t>int</a:t>
            </a:r>
            <a:r>
              <a:rPr sz="1200">
                <a:solidFill>
                  <a:srgbClr val="E4E4EF"/>
                </a:solidFill>
                <a:latin typeface="Consolas"/>
              </a:rPr>
              <a:t> b) {</a:t>
            </a:r>
          </a:p>
          <a:p>
            <a:pPr algn="l"/>
            <a:r>
              <a:rPr sz="1200">
                <a:solidFill>
                  <a:srgbClr val="E4E4EF"/>
                </a:solidFill>
                <a:latin typeface="Consolas"/>
              </a:rPr>
              <a:t>  </a:t>
            </a:r>
            <a:r>
              <a:rPr sz="1200">
                <a:solidFill>
                  <a:srgbClr val="F5A623"/>
                </a:solidFill>
                <a:latin typeface="Consolas"/>
              </a:rPr>
              <a:t>return</a:t>
            </a:r>
            <a:r>
              <a:rPr sz="1200">
                <a:solidFill>
                  <a:srgbClr val="E4E4EF"/>
                </a:solidFill>
                <a:latin typeface="Consolas"/>
              </a:rPr>
              <a:t> a + b;</a:t>
            </a:r>
          </a:p>
          <a:p>
            <a:pPr algn="l"/>
            <a:r>
              <a:rPr sz="1200">
                <a:solidFill>
                  <a:srgbClr val="E4E4EF"/>
                </a:solidFill>
                <a:latin typeface="Consolas"/>
              </a:rPr>
              <a:t>}</a:t>
            </a:r>
          </a:p>
          <a:p>
            <a:pPr algn="l"/>
            <a:r>
              <a:rPr sz="1200">
                <a:solidFill>
                  <a:srgbClr val="E4E4EF"/>
                </a:solidFill>
                <a:latin typeface="Consolas"/>
              </a:rPr>
              <a:t> </a:t>
            </a:r>
          </a:p>
          <a:p>
            <a:pPr algn="l"/>
            <a:r>
              <a:rPr sz="1200">
                <a:solidFill>
                  <a:srgbClr val="6B7280"/>
                </a:solidFill>
                <a:latin typeface="Consolas"/>
              </a:rPr>
              <a:t>// Funcion flecha (arrow function)</a:t>
            </a:r>
          </a:p>
          <a:p>
            <a:pPr algn="l"/>
            <a:r>
              <a:rPr sz="1200">
                <a:solidFill>
                  <a:srgbClr val="C79BF5"/>
                </a:solidFill>
                <a:latin typeface="Consolas"/>
              </a:rPr>
              <a:t>int</a:t>
            </a:r>
            <a:r>
              <a:rPr sz="1200">
                <a:solidFill>
                  <a:srgbClr val="E4E4EF"/>
                </a:solidFill>
                <a:latin typeface="Consolas"/>
              </a:rPr>
              <a:t> restar(</a:t>
            </a:r>
            <a:r>
              <a:rPr sz="1200">
                <a:solidFill>
                  <a:srgbClr val="C79BF5"/>
                </a:solidFill>
                <a:latin typeface="Consolas"/>
              </a:rPr>
              <a:t>int</a:t>
            </a:r>
            <a:r>
              <a:rPr sz="1200">
                <a:solidFill>
                  <a:srgbClr val="E4E4EF"/>
                </a:solidFill>
                <a:latin typeface="Consolas"/>
              </a:rPr>
              <a:t> a, </a:t>
            </a:r>
            <a:r>
              <a:rPr sz="1200">
                <a:solidFill>
                  <a:srgbClr val="C79BF5"/>
                </a:solidFill>
                <a:latin typeface="Consolas"/>
              </a:rPr>
              <a:t>int</a:t>
            </a:r>
            <a:r>
              <a:rPr sz="1200">
                <a:solidFill>
                  <a:srgbClr val="E4E4EF"/>
                </a:solidFill>
                <a:latin typeface="Consolas"/>
              </a:rPr>
              <a:t> b) =&gt; a - b;</a:t>
            </a:r>
          </a:p>
          <a:p>
            <a:pPr algn="l"/>
            <a:r>
              <a:rPr sz="1200">
                <a:solidFill>
                  <a:srgbClr val="E4E4EF"/>
                </a:solidFill>
                <a:latin typeface="Consolas"/>
              </a:rPr>
              <a:t> </a:t>
            </a:r>
          </a:p>
          <a:p>
            <a:pPr algn="l"/>
            <a:r>
              <a:rPr sz="1200">
                <a:solidFill>
                  <a:srgbClr val="6B7280"/>
                </a:solidFill>
                <a:latin typeface="Consolas"/>
              </a:rPr>
              <a:t>// Parametro opcional con valor por defecto</a:t>
            </a:r>
          </a:p>
          <a:p>
            <a:pPr algn="l"/>
            <a:r>
              <a:rPr sz="1200">
                <a:solidFill>
                  <a:srgbClr val="C79BF5"/>
                </a:solidFill>
                <a:latin typeface="Consolas"/>
              </a:rPr>
              <a:t>String</a:t>
            </a:r>
            <a:r>
              <a:rPr sz="1200">
                <a:solidFill>
                  <a:srgbClr val="E4E4EF"/>
                </a:solidFill>
                <a:latin typeface="Consolas"/>
              </a:rPr>
              <a:t> saludar(</a:t>
            </a:r>
            <a:r>
              <a:rPr sz="1200">
                <a:solidFill>
                  <a:srgbClr val="C79BF5"/>
                </a:solidFill>
                <a:latin typeface="Consolas"/>
              </a:rPr>
              <a:t>String</a:t>
            </a:r>
            <a:r>
              <a:rPr sz="1200">
                <a:solidFill>
                  <a:srgbClr val="E4E4EF"/>
                </a:solidFill>
                <a:latin typeface="Consolas"/>
              </a:rPr>
              <a:t> nombre, {</a:t>
            </a:r>
            <a:r>
              <a:rPr sz="1200">
                <a:solidFill>
                  <a:srgbClr val="C79BF5"/>
                </a:solidFill>
                <a:latin typeface="Consolas"/>
              </a:rPr>
              <a:t>String</a:t>
            </a:r>
            <a:r>
              <a:rPr sz="1200">
                <a:solidFill>
                  <a:srgbClr val="E4E4EF"/>
                </a:solidFill>
                <a:latin typeface="Consolas"/>
              </a:rPr>
              <a:t> saludo = </a:t>
            </a:r>
            <a:r>
              <a:rPr sz="1200">
                <a:solidFill>
                  <a:srgbClr val="8BD47E"/>
                </a:solidFill>
                <a:latin typeface="Consolas"/>
              </a:rPr>
              <a:t>'Hola'</a:t>
            </a:r>
            <a:r>
              <a:rPr sz="1200">
                <a:solidFill>
                  <a:srgbClr val="E4E4EF"/>
                </a:solidFill>
                <a:latin typeface="Consolas"/>
              </a:rPr>
              <a:t>}) {</a:t>
            </a:r>
          </a:p>
          <a:p>
            <a:pPr algn="l"/>
            <a:r>
              <a:rPr sz="1200">
                <a:solidFill>
                  <a:srgbClr val="E4E4EF"/>
                </a:solidFill>
                <a:latin typeface="Consolas"/>
              </a:rPr>
              <a:t>  </a:t>
            </a:r>
            <a:r>
              <a:rPr sz="1200">
                <a:solidFill>
                  <a:srgbClr val="F5A623"/>
                </a:solidFill>
                <a:latin typeface="Consolas"/>
              </a:rPr>
              <a:t>return</a:t>
            </a:r>
            <a:r>
              <a:rPr sz="1200">
                <a:solidFill>
                  <a:srgbClr val="E4E4EF"/>
                </a:solidFill>
                <a:latin typeface="Consolas"/>
              </a:rPr>
              <a:t> </a:t>
            </a:r>
            <a:r>
              <a:rPr sz="1200">
                <a:solidFill>
                  <a:srgbClr val="8BD47E"/>
                </a:solidFill>
                <a:latin typeface="Consolas"/>
              </a:rPr>
              <a:t>'$saludo, $nombre!'</a:t>
            </a:r>
            <a:r>
              <a:rPr sz="1200">
                <a:solidFill>
                  <a:srgbClr val="E4E4EF"/>
                </a:solidFill>
                <a:latin typeface="Consolas"/>
              </a:rPr>
              <a:t>;</a:t>
            </a:r>
          </a:p>
          <a:p>
            <a:pPr algn="l"/>
            <a:r>
              <a:rPr sz="1200">
                <a:solidFill>
                  <a:srgbClr val="E4E4EF"/>
                </a:solidFill>
                <a:latin typeface="Consolas"/>
              </a:rPr>
              <a:t>}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65760" y="4343400"/>
            <a:ext cx="8412480" cy="411480"/>
          </a:xfrm>
          <a:prstGeom prst="rect">
            <a:avLst/>
          </a:prstGeom>
          <a:solidFill>
            <a:srgbClr val="EEF2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65760" y="4416552"/>
            <a:ext cx="84124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50" b="0" i="1">
                <a:solidFill>
                  <a:srgbClr val="1B2F5B"/>
                </a:solidFill>
                <a:latin typeface="Calibri"/>
              </a:rPr>
              <a:t>sumar(2, 3) -&gt; 5      restar(10, 4) -&gt; 6      saludar("Ana") -&gt; "Hola, Ana!"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E877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164592"/>
            <a:ext cx="7315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E87722"/>
                </a:solidFill>
                <a:latin typeface="Calibri"/>
              </a:rPr>
              <a:t>AGRUPAR DATOS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457200"/>
            <a:ext cx="8229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500" b="1" i="0">
                <a:solidFill>
                  <a:srgbClr val="1B2F5B"/>
                </a:solidFill>
                <a:latin typeface="Calibri"/>
              </a:rPr>
              <a:t>Colecciones: List, Set, Map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20040" y="1143000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1B2F5B"/>
                </a:solidFill>
                <a:latin typeface="Calibri"/>
              </a:rPr>
              <a:t>List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" y="1490472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80" b="0" i="0">
                <a:solidFill>
                  <a:srgbClr val="374151"/>
                </a:solidFill>
                <a:latin typeface="Calibri"/>
              </a:rPr>
              <a:t>Lista ordenada, permite repetidos</a:t>
            </a:r>
          </a:p>
        </p:txBody>
      </p:sp>
      <p:sp>
        <p:nvSpPr>
          <p:cNvPr id="8" name="Rectangle 7"/>
          <p:cNvSpPr/>
          <p:nvPr/>
        </p:nvSpPr>
        <p:spPr>
          <a:xfrm>
            <a:off x="274320" y="1965960"/>
            <a:ext cx="2816352" cy="2468880"/>
          </a:xfrm>
          <a:prstGeom prst="rect">
            <a:avLst/>
          </a:prstGeom>
          <a:solidFill>
            <a:srgbClr val="1E1E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402336" y="2084831"/>
            <a:ext cx="91440" cy="91440"/>
          </a:xfrm>
          <a:prstGeom prst="ellipse">
            <a:avLst/>
          </a:prstGeom>
          <a:solidFill>
            <a:srgbClr val="FF5F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548640" y="2084831"/>
            <a:ext cx="91440" cy="91440"/>
          </a:xfrm>
          <a:prstGeom prst="ellipse">
            <a:avLst/>
          </a:prstGeom>
          <a:solidFill>
            <a:srgbClr val="FFBD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694944" y="2084831"/>
            <a:ext cx="91440" cy="91440"/>
          </a:xfrm>
          <a:prstGeom prst="ellipse">
            <a:avLst/>
          </a:prstGeom>
          <a:solidFill>
            <a:srgbClr val="27C9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68680" y="2020824"/>
            <a:ext cx="208483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A0AABB"/>
                </a:solidFill>
                <a:latin typeface="Consolas"/>
              </a:rPr>
              <a:t/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30352" y="2350008"/>
            <a:ext cx="2359152" cy="1965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>
                <a:solidFill>
                  <a:srgbClr val="F5A623"/>
                </a:solidFill>
                <a:latin typeface="Consolas"/>
              </a:rPr>
              <a:t>var</a:t>
            </a:r>
            <a:r>
              <a:rPr sz="950">
                <a:solidFill>
                  <a:srgbClr val="E4E4EF"/>
                </a:solidFill>
                <a:latin typeface="Consolas"/>
              </a:rPr>
              <a:t> frutas = [</a:t>
            </a:r>
            <a:r>
              <a:rPr sz="950">
                <a:solidFill>
                  <a:srgbClr val="8BD47E"/>
                </a:solidFill>
                <a:latin typeface="Consolas"/>
              </a:rPr>
              <a:t>'manzana'</a:t>
            </a:r>
            <a:r>
              <a:rPr sz="950">
                <a:solidFill>
                  <a:srgbClr val="E4E4EF"/>
                </a:solidFill>
                <a:latin typeface="Consolas"/>
              </a:rPr>
              <a:t>, </a:t>
            </a:r>
            <a:r>
              <a:rPr sz="950">
                <a:solidFill>
                  <a:srgbClr val="8BD47E"/>
                </a:solidFill>
                <a:latin typeface="Consolas"/>
              </a:rPr>
              <a:t>'pera'</a:t>
            </a:r>
            <a:r>
              <a:rPr sz="950">
                <a:solidFill>
                  <a:srgbClr val="E4E4EF"/>
                </a:solidFill>
                <a:latin typeface="Consolas"/>
              </a:rPr>
              <a:t>, </a:t>
            </a:r>
            <a:r>
              <a:rPr sz="950">
                <a:solidFill>
                  <a:srgbClr val="8BD47E"/>
                </a:solidFill>
                <a:latin typeface="Consolas"/>
              </a:rPr>
              <a:t>'uva'</a:t>
            </a:r>
            <a:r>
              <a:rPr sz="950">
                <a:solidFill>
                  <a:srgbClr val="E4E4EF"/>
                </a:solidFill>
                <a:latin typeface="Consolas"/>
              </a:rPr>
              <a:t>];</a:t>
            </a:r>
          </a:p>
          <a:p>
            <a:pPr algn="l"/>
            <a:r>
              <a:rPr sz="950">
                <a:solidFill>
                  <a:srgbClr val="E4E4EF"/>
                </a:solidFill>
                <a:latin typeface="Consolas"/>
              </a:rPr>
              <a:t>frutas.add(</a:t>
            </a:r>
            <a:r>
              <a:rPr sz="950">
                <a:solidFill>
                  <a:srgbClr val="8BD47E"/>
                </a:solidFill>
                <a:latin typeface="Consolas"/>
              </a:rPr>
              <a:t>'mango'</a:t>
            </a:r>
            <a:r>
              <a:rPr sz="950">
                <a:solidFill>
                  <a:srgbClr val="E4E4EF"/>
                </a:solidFill>
                <a:latin typeface="Consolas"/>
              </a:rPr>
              <a:t>);</a:t>
            </a:r>
          </a:p>
          <a:p>
            <a:pPr algn="l"/>
            <a:r>
              <a:rPr sz="950">
                <a:solidFill>
                  <a:srgbClr val="E4E4EF"/>
                </a:solidFill>
                <a:latin typeface="Consolas"/>
              </a:rPr>
              <a:t>print(frutas[</a:t>
            </a:r>
            <a:r>
              <a:rPr sz="950">
                <a:solidFill>
                  <a:srgbClr val="7DC4E8"/>
                </a:solidFill>
                <a:latin typeface="Consolas"/>
              </a:rPr>
              <a:t>0</a:t>
            </a:r>
            <a:r>
              <a:rPr sz="950">
                <a:solidFill>
                  <a:srgbClr val="E4E4EF"/>
                </a:solidFill>
                <a:latin typeface="Consolas"/>
              </a:rPr>
              <a:t>]); </a:t>
            </a:r>
            <a:r>
              <a:rPr sz="950">
                <a:solidFill>
                  <a:srgbClr val="6B7280"/>
                </a:solidFill>
                <a:latin typeface="Consolas"/>
              </a:rPr>
              <a:t>// manzana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264408" y="1143000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1B2F5B"/>
                </a:solidFill>
                <a:latin typeface="Calibri"/>
              </a:rPr>
              <a:t>Set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264408" y="1490472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80" b="0" i="0">
                <a:solidFill>
                  <a:srgbClr val="374151"/>
                </a:solidFill>
                <a:latin typeface="Calibri"/>
              </a:rPr>
              <a:t>Coleccion sin elementos repetidos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218688" y="1965960"/>
            <a:ext cx="2816352" cy="2468880"/>
          </a:xfrm>
          <a:prstGeom prst="rect">
            <a:avLst/>
          </a:prstGeom>
          <a:solidFill>
            <a:srgbClr val="1E1E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3346704" y="2084831"/>
            <a:ext cx="91440" cy="91440"/>
          </a:xfrm>
          <a:prstGeom prst="ellipse">
            <a:avLst/>
          </a:prstGeom>
          <a:solidFill>
            <a:srgbClr val="FF5F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3493008" y="2084831"/>
            <a:ext cx="91440" cy="91440"/>
          </a:xfrm>
          <a:prstGeom prst="ellipse">
            <a:avLst/>
          </a:prstGeom>
          <a:solidFill>
            <a:srgbClr val="FFBD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3639312" y="2084831"/>
            <a:ext cx="91440" cy="91440"/>
          </a:xfrm>
          <a:prstGeom prst="ellipse">
            <a:avLst/>
          </a:prstGeom>
          <a:solidFill>
            <a:srgbClr val="27C9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3813048" y="2020824"/>
            <a:ext cx="208483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A0AABB"/>
                </a:solidFill>
                <a:latin typeface="Consolas"/>
              </a:rPr>
              <a:t/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474720" y="2350008"/>
            <a:ext cx="2359152" cy="1965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>
                <a:solidFill>
                  <a:srgbClr val="F5A623"/>
                </a:solidFill>
                <a:latin typeface="Consolas"/>
              </a:rPr>
              <a:t>var</a:t>
            </a:r>
            <a:r>
              <a:rPr sz="950">
                <a:solidFill>
                  <a:srgbClr val="E4E4EF"/>
                </a:solidFill>
                <a:latin typeface="Consolas"/>
              </a:rPr>
              <a:t> colores = {</a:t>
            </a:r>
            <a:r>
              <a:rPr sz="950">
                <a:solidFill>
                  <a:srgbClr val="8BD47E"/>
                </a:solidFill>
                <a:latin typeface="Consolas"/>
              </a:rPr>
              <a:t>'rojo'</a:t>
            </a:r>
            <a:r>
              <a:rPr sz="950">
                <a:solidFill>
                  <a:srgbClr val="E4E4EF"/>
                </a:solidFill>
                <a:latin typeface="Consolas"/>
              </a:rPr>
              <a:t>, </a:t>
            </a:r>
            <a:r>
              <a:rPr sz="950">
                <a:solidFill>
                  <a:srgbClr val="8BD47E"/>
                </a:solidFill>
                <a:latin typeface="Consolas"/>
              </a:rPr>
              <a:t>'azul'</a:t>
            </a:r>
            <a:r>
              <a:rPr sz="950">
                <a:solidFill>
                  <a:srgbClr val="E4E4EF"/>
                </a:solidFill>
                <a:latin typeface="Consolas"/>
              </a:rPr>
              <a:t>, </a:t>
            </a:r>
            <a:r>
              <a:rPr sz="950">
                <a:solidFill>
                  <a:srgbClr val="8BD47E"/>
                </a:solidFill>
                <a:latin typeface="Consolas"/>
              </a:rPr>
              <a:t>'verde'</a:t>
            </a:r>
            <a:r>
              <a:rPr sz="950">
                <a:solidFill>
                  <a:srgbClr val="E4E4EF"/>
                </a:solidFill>
                <a:latin typeface="Consolas"/>
              </a:rPr>
              <a:t>};</a:t>
            </a:r>
          </a:p>
          <a:p>
            <a:pPr algn="l"/>
            <a:r>
              <a:rPr sz="950">
                <a:solidFill>
                  <a:srgbClr val="E4E4EF"/>
                </a:solidFill>
                <a:latin typeface="Consolas"/>
              </a:rPr>
              <a:t>colores.add(</a:t>
            </a:r>
            <a:r>
              <a:rPr sz="950">
                <a:solidFill>
                  <a:srgbClr val="8BD47E"/>
                </a:solidFill>
                <a:latin typeface="Consolas"/>
              </a:rPr>
              <a:t>'rojo'</a:t>
            </a:r>
            <a:r>
              <a:rPr sz="950">
                <a:solidFill>
                  <a:srgbClr val="E4E4EF"/>
                </a:solidFill>
                <a:latin typeface="Consolas"/>
              </a:rPr>
              <a:t>); </a:t>
            </a:r>
            <a:r>
              <a:rPr sz="950">
                <a:solidFill>
                  <a:srgbClr val="6B7280"/>
                </a:solidFill>
                <a:latin typeface="Consolas"/>
              </a:rPr>
              <a:t>// no se duplica</a:t>
            </a:r>
          </a:p>
          <a:p>
            <a:pPr algn="l"/>
            <a:r>
              <a:rPr sz="950">
                <a:solidFill>
                  <a:srgbClr val="E4E4EF"/>
                </a:solidFill>
                <a:latin typeface="Consolas"/>
              </a:rPr>
              <a:t>print(colores.length); </a:t>
            </a:r>
            <a:r>
              <a:rPr sz="950">
                <a:solidFill>
                  <a:srgbClr val="6B7280"/>
                </a:solidFill>
                <a:latin typeface="Consolas"/>
              </a:rPr>
              <a:t>// 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208776" y="1143000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1B2F5B"/>
                </a:solidFill>
                <a:latin typeface="Calibri"/>
              </a:rPr>
              <a:t>Map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208776" y="1490472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80" b="0" i="0">
                <a:solidFill>
                  <a:srgbClr val="374151"/>
                </a:solidFill>
                <a:latin typeface="Calibri"/>
              </a:rPr>
              <a:t>Pares llave-valor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163056" y="1965960"/>
            <a:ext cx="2816352" cy="2468880"/>
          </a:xfrm>
          <a:prstGeom prst="rect">
            <a:avLst/>
          </a:prstGeom>
          <a:solidFill>
            <a:srgbClr val="1E1E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6291072" y="2084831"/>
            <a:ext cx="91440" cy="91440"/>
          </a:xfrm>
          <a:prstGeom prst="ellipse">
            <a:avLst/>
          </a:prstGeom>
          <a:solidFill>
            <a:srgbClr val="FF5F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6437376" y="2084831"/>
            <a:ext cx="91440" cy="91440"/>
          </a:xfrm>
          <a:prstGeom prst="ellipse">
            <a:avLst/>
          </a:prstGeom>
          <a:solidFill>
            <a:srgbClr val="FFBD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6583680" y="2084831"/>
            <a:ext cx="91440" cy="91440"/>
          </a:xfrm>
          <a:prstGeom prst="ellipse">
            <a:avLst/>
          </a:prstGeom>
          <a:solidFill>
            <a:srgbClr val="27C9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757416" y="2020824"/>
            <a:ext cx="208483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A0AABB"/>
                </a:solidFill>
                <a:latin typeface="Consolas"/>
              </a:rPr>
              <a:t/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419088" y="2350008"/>
            <a:ext cx="2359152" cy="1965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>
                <a:solidFill>
                  <a:srgbClr val="F5A623"/>
                </a:solidFill>
                <a:latin typeface="Consolas"/>
              </a:rPr>
              <a:t>var</a:t>
            </a:r>
            <a:r>
              <a:rPr sz="950">
                <a:solidFill>
                  <a:srgbClr val="E4E4EF"/>
                </a:solidFill>
                <a:latin typeface="Consolas"/>
              </a:rPr>
              <a:t> estudiante = {</a:t>
            </a:r>
          </a:p>
          <a:p>
            <a:pPr algn="l"/>
            <a:r>
              <a:rPr sz="950">
                <a:solidFill>
                  <a:srgbClr val="E4E4EF"/>
                </a:solidFill>
                <a:latin typeface="Consolas"/>
              </a:rPr>
              <a:t>  </a:t>
            </a:r>
            <a:r>
              <a:rPr sz="950">
                <a:solidFill>
                  <a:srgbClr val="8BD47E"/>
                </a:solidFill>
                <a:latin typeface="Consolas"/>
              </a:rPr>
              <a:t>'nombre'</a:t>
            </a:r>
            <a:r>
              <a:rPr sz="950">
                <a:solidFill>
                  <a:srgbClr val="E4E4EF"/>
                </a:solidFill>
                <a:latin typeface="Consolas"/>
              </a:rPr>
              <a:t>: </a:t>
            </a:r>
            <a:r>
              <a:rPr sz="950">
                <a:solidFill>
                  <a:srgbClr val="8BD47E"/>
                </a:solidFill>
                <a:latin typeface="Consolas"/>
              </a:rPr>
              <a:t>'Luis'</a:t>
            </a:r>
            <a:r>
              <a:rPr sz="950">
                <a:solidFill>
                  <a:srgbClr val="E4E4EF"/>
                </a:solidFill>
                <a:latin typeface="Consolas"/>
              </a:rPr>
              <a:t>,</a:t>
            </a:r>
          </a:p>
          <a:p>
            <a:pPr algn="l"/>
            <a:r>
              <a:rPr sz="950">
                <a:solidFill>
                  <a:srgbClr val="E4E4EF"/>
                </a:solidFill>
                <a:latin typeface="Consolas"/>
              </a:rPr>
              <a:t>  </a:t>
            </a:r>
            <a:r>
              <a:rPr sz="950">
                <a:solidFill>
                  <a:srgbClr val="8BD47E"/>
                </a:solidFill>
                <a:latin typeface="Consolas"/>
              </a:rPr>
              <a:t>'nota'</a:t>
            </a:r>
            <a:r>
              <a:rPr sz="950">
                <a:solidFill>
                  <a:srgbClr val="E4E4EF"/>
                </a:solidFill>
                <a:latin typeface="Consolas"/>
              </a:rPr>
              <a:t>: </a:t>
            </a:r>
            <a:r>
              <a:rPr sz="950">
                <a:solidFill>
                  <a:srgbClr val="7DC4E8"/>
                </a:solidFill>
                <a:latin typeface="Consolas"/>
              </a:rPr>
              <a:t>4.2</a:t>
            </a:r>
            <a:r>
              <a:rPr sz="950">
                <a:solidFill>
                  <a:srgbClr val="E4E4EF"/>
                </a:solidFill>
                <a:latin typeface="Consolas"/>
              </a:rPr>
              <a:t>,</a:t>
            </a:r>
          </a:p>
          <a:p>
            <a:pPr algn="l"/>
            <a:r>
              <a:rPr sz="950">
                <a:solidFill>
                  <a:srgbClr val="E4E4EF"/>
                </a:solidFill>
                <a:latin typeface="Consolas"/>
              </a:rPr>
              <a:t>};</a:t>
            </a:r>
          </a:p>
          <a:p>
            <a:pPr algn="l"/>
            <a:r>
              <a:rPr sz="950">
                <a:solidFill>
                  <a:srgbClr val="E4E4EF"/>
                </a:solidFill>
                <a:latin typeface="Consolas"/>
              </a:rPr>
              <a:t>print(estudiante[</a:t>
            </a:r>
            <a:r>
              <a:rPr sz="950">
                <a:solidFill>
                  <a:srgbClr val="8BD47E"/>
                </a:solidFill>
                <a:latin typeface="Consolas"/>
              </a:rPr>
              <a:t>'nombre'</a:t>
            </a:r>
            <a:r>
              <a:rPr sz="950">
                <a:solidFill>
                  <a:srgbClr val="E4E4EF"/>
                </a:solidFill>
                <a:latin typeface="Consolas"/>
              </a:rPr>
              <a:t>]);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E877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164592"/>
            <a:ext cx="7315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E87722"/>
                </a:solidFill>
                <a:latin typeface="Calibri"/>
              </a:rPr>
              <a:t>DECISIONES Y REPETICION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457200"/>
            <a:ext cx="8229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700" b="1" i="0">
                <a:solidFill>
                  <a:srgbClr val="1B2F5B"/>
                </a:solidFill>
                <a:latin typeface="Calibri"/>
              </a:rPr>
              <a:t>Control de flujo</a:t>
            </a:r>
          </a:p>
        </p:txBody>
      </p:sp>
      <p:sp>
        <p:nvSpPr>
          <p:cNvPr id="6" name="Rectangle 5"/>
          <p:cNvSpPr/>
          <p:nvPr/>
        </p:nvSpPr>
        <p:spPr>
          <a:xfrm>
            <a:off x="365760" y="1143000"/>
            <a:ext cx="4160520" cy="1965960"/>
          </a:xfrm>
          <a:prstGeom prst="rect">
            <a:avLst/>
          </a:prstGeom>
          <a:solidFill>
            <a:srgbClr val="1E1E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493776" y="1261872"/>
            <a:ext cx="91440" cy="91440"/>
          </a:xfrm>
          <a:prstGeom prst="ellipse">
            <a:avLst/>
          </a:prstGeom>
          <a:solidFill>
            <a:srgbClr val="FF5F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640080" y="1261872"/>
            <a:ext cx="91440" cy="91440"/>
          </a:xfrm>
          <a:prstGeom prst="ellipse">
            <a:avLst/>
          </a:prstGeom>
          <a:solidFill>
            <a:srgbClr val="FFBD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786384" y="1261872"/>
            <a:ext cx="91440" cy="91440"/>
          </a:xfrm>
          <a:prstGeom prst="ellipse">
            <a:avLst/>
          </a:prstGeom>
          <a:solidFill>
            <a:srgbClr val="27C9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60120" y="1197864"/>
            <a:ext cx="3429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A0AABB"/>
                </a:solidFill>
                <a:latin typeface="Consolas"/>
              </a:rPr>
              <a:t>decision.dart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21792" y="1527048"/>
            <a:ext cx="3703320" cy="1463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>
                <a:solidFill>
                  <a:srgbClr val="6B7280"/>
                </a:solidFill>
                <a:latin typeface="Consolas"/>
              </a:rPr>
              <a:t>// if / else</a:t>
            </a:r>
          </a:p>
          <a:p>
            <a:pPr algn="l"/>
            <a:r>
              <a:rPr sz="1100">
                <a:solidFill>
                  <a:srgbClr val="F5A623"/>
                </a:solidFill>
                <a:latin typeface="Consolas"/>
              </a:rPr>
              <a:t>if</a:t>
            </a:r>
            <a:r>
              <a:rPr sz="1100">
                <a:solidFill>
                  <a:srgbClr val="E4E4EF"/>
                </a:solidFill>
                <a:latin typeface="Consolas"/>
              </a:rPr>
              <a:t> (nota &gt;= </a:t>
            </a:r>
            <a:r>
              <a:rPr sz="1100">
                <a:solidFill>
                  <a:srgbClr val="7DC4E8"/>
                </a:solidFill>
                <a:latin typeface="Consolas"/>
              </a:rPr>
              <a:t>3.0</a:t>
            </a:r>
            <a:r>
              <a:rPr sz="1100">
                <a:solidFill>
                  <a:srgbClr val="E4E4EF"/>
                </a:solidFill>
                <a:latin typeface="Consolas"/>
              </a:rPr>
              <a:t>) {</a:t>
            </a:r>
          </a:p>
          <a:p>
            <a:pPr algn="l"/>
            <a:r>
              <a:rPr sz="1100">
                <a:solidFill>
                  <a:srgbClr val="E4E4EF"/>
                </a:solidFill>
                <a:latin typeface="Consolas"/>
              </a:rPr>
              <a:t>  print(</a:t>
            </a:r>
            <a:r>
              <a:rPr sz="1100">
                <a:solidFill>
                  <a:srgbClr val="8BD47E"/>
                </a:solidFill>
                <a:latin typeface="Consolas"/>
              </a:rPr>
              <a:t>'Aprobado'</a:t>
            </a:r>
            <a:r>
              <a:rPr sz="1100">
                <a:solidFill>
                  <a:srgbClr val="E4E4EF"/>
                </a:solidFill>
                <a:latin typeface="Consolas"/>
              </a:rPr>
              <a:t>);</a:t>
            </a:r>
          </a:p>
          <a:p>
            <a:pPr algn="l"/>
            <a:r>
              <a:rPr sz="1100">
                <a:solidFill>
                  <a:srgbClr val="E4E4EF"/>
                </a:solidFill>
                <a:latin typeface="Consolas"/>
              </a:rPr>
              <a:t>} </a:t>
            </a:r>
            <a:r>
              <a:rPr sz="1100">
                <a:solidFill>
                  <a:srgbClr val="F5A623"/>
                </a:solidFill>
                <a:latin typeface="Consolas"/>
              </a:rPr>
              <a:t>else</a:t>
            </a:r>
            <a:r>
              <a:rPr sz="1100">
                <a:solidFill>
                  <a:srgbClr val="E4E4EF"/>
                </a:solidFill>
                <a:latin typeface="Consolas"/>
              </a:rPr>
              <a:t> {</a:t>
            </a:r>
          </a:p>
          <a:p>
            <a:pPr algn="l"/>
            <a:r>
              <a:rPr sz="1100">
                <a:solidFill>
                  <a:srgbClr val="E4E4EF"/>
                </a:solidFill>
                <a:latin typeface="Consolas"/>
              </a:rPr>
              <a:t>  print(</a:t>
            </a:r>
            <a:r>
              <a:rPr sz="1100">
                <a:solidFill>
                  <a:srgbClr val="8BD47E"/>
                </a:solidFill>
                <a:latin typeface="Consolas"/>
              </a:rPr>
              <a:t>'Reprobado'</a:t>
            </a:r>
            <a:r>
              <a:rPr sz="1100">
                <a:solidFill>
                  <a:srgbClr val="E4E4EF"/>
                </a:solidFill>
                <a:latin typeface="Consolas"/>
              </a:rPr>
              <a:t>);</a:t>
            </a:r>
          </a:p>
          <a:p>
            <a:pPr algn="l"/>
            <a:r>
              <a:rPr sz="1100">
                <a:solidFill>
                  <a:srgbClr val="E4E4EF"/>
                </a:solidFill>
                <a:latin typeface="Consolas"/>
              </a:rPr>
              <a:t>}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617720" y="1143000"/>
            <a:ext cx="4160520" cy="1965960"/>
          </a:xfrm>
          <a:prstGeom prst="rect">
            <a:avLst/>
          </a:prstGeom>
          <a:solidFill>
            <a:srgbClr val="1E1E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4745736" y="1261872"/>
            <a:ext cx="91440" cy="91440"/>
          </a:xfrm>
          <a:prstGeom prst="ellipse">
            <a:avLst/>
          </a:prstGeom>
          <a:solidFill>
            <a:srgbClr val="FF5F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4892040" y="1261872"/>
            <a:ext cx="91440" cy="91440"/>
          </a:xfrm>
          <a:prstGeom prst="ellipse">
            <a:avLst/>
          </a:prstGeom>
          <a:solidFill>
            <a:srgbClr val="FFBD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5038344" y="1261872"/>
            <a:ext cx="91440" cy="91440"/>
          </a:xfrm>
          <a:prstGeom prst="ellipse">
            <a:avLst/>
          </a:prstGeom>
          <a:solidFill>
            <a:srgbClr val="27C9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212080" y="1197864"/>
            <a:ext cx="3429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A0AABB"/>
                </a:solidFill>
                <a:latin typeface="Consolas"/>
              </a:rPr>
              <a:t>repeticion.dart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873752" y="1527048"/>
            <a:ext cx="3703320" cy="1463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30">
                <a:solidFill>
                  <a:srgbClr val="6B7280"/>
                </a:solidFill>
                <a:latin typeface="Consolas"/>
              </a:rPr>
              <a:t>// for</a:t>
            </a:r>
          </a:p>
          <a:p>
            <a:pPr algn="l"/>
            <a:r>
              <a:rPr sz="1030">
                <a:solidFill>
                  <a:srgbClr val="F5A623"/>
                </a:solidFill>
                <a:latin typeface="Consolas"/>
              </a:rPr>
              <a:t>for</a:t>
            </a:r>
            <a:r>
              <a:rPr sz="1030">
                <a:solidFill>
                  <a:srgbClr val="E4E4EF"/>
                </a:solidFill>
                <a:latin typeface="Consolas"/>
              </a:rPr>
              <a:t> (</a:t>
            </a:r>
            <a:r>
              <a:rPr sz="1030">
                <a:solidFill>
                  <a:srgbClr val="F5A623"/>
                </a:solidFill>
                <a:latin typeface="Consolas"/>
              </a:rPr>
              <a:t>var</a:t>
            </a:r>
            <a:r>
              <a:rPr sz="1030">
                <a:solidFill>
                  <a:srgbClr val="E4E4EF"/>
                </a:solidFill>
                <a:latin typeface="Consolas"/>
              </a:rPr>
              <a:t> i = </a:t>
            </a:r>
            <a:r>
              <a:rPr sz="1030">
                <a:solidFill>
                  <a:srgbClr val="7DC4E8"/>
                </a:solidFill>
                <a:latin typeface="Consolas"/>
              </a:rPr>
              <a:t>0</a:t>
            </a:r>
            <a:r>
              <a:rPr sz="1030">
                <a:solidFill>
                  <a:srgbClr val="E4E4EF"/>
                </a:solidFill>
                <a:latin typeface="Consolas"/>
              </a:rPr>
              <a:t>; i &lt; </a:t>
            </a:r>
            <a:r>
              <a:rPr sz="1030">
                <a:solidFill>
                  <a:srgbClr val="7DC4E8"/>
                </a:solidFill>
                <a:latin typeface="Consolas"/>
              </a:rPr>
              <a:t>5</a:t>
            </a:r>
            <a:r>
              <a:rPr sz="1030">
                <a:solidFill>
                  <a:srgbClr val="E4E4EF"/>
                </a:solidFill>
                <a:latin typeface="Consolas"/>
              </a:rPr>
              <a:t>; i++) {</a:t>
            </a:r>
          </a:p>
          <a:p>
            <a:pPr algn="l"/>
            <a:r>
              <a:rPr sz="1030">
                <a:solidFill>
                  <a:srgbClr val="E4E4EF"/>
                </a:solidFill>
                <a:latin typeface="Consolas"/>
              </a:rPr>
              <a:t>  print(</a:t>
            </a:r>
            <a:r>
              <a:rPr sz="1030">
                <a:solidFill>
                  <a:srgbClr val="8BD47E"/>
                </a:solidFill>
                <a:latin typeface="Consolas"/>
              </a:rPr>
              <a:t>'Vuelta $i'</a:t>
            </a:r>
            <a:r>
              <a:rPr sz="1030">
                <a:solidFill>
                  <a:srgbClr val="E4E4EF"/>
                </a:solidFill>
                <a:latin typeface="Consolas"/>
              </a:rPr>
              <a:t>);</a:t>
            </a:r>
          </a:p>
          <a:p>
            <a:pPr algn="l"/>
            <a:r>
              <a:rPr sz="1030">
                <a:solidFill>
                  <a:srgbClr val="E4E4EF"/>
                </a:solidFill>
                <a:latin typeface="Consolas"/>
              </a:rPr>
              <a:t>}</a:t>
            </a:r>
          </a:p>
          <a:p>
            <a:pPr algn="l"/>
            <a:r>
              <a:rPr sz="1030">
                <a:solidFill>
                  <a:srgbClr val="E4E4EF"/>
                </a:solidFill>
                <a:latin typeface="Consolas"/>
              </a:rPr>
              <a:t> </a:t>
            </a:r>
          </a:p>
          <a:p>
            <a:pPr algn="l"/>
            <a:r>
              <a:rPr sz="1030">
                <a:solidFill>
                  <a:srgbClr val="6B7280"/>
                </a:solidFill>
                <a:latin typeface="Consolas"/>
              </a:rPr>
              <a:t>// for-in sobre una lista</a:t>
            </a:r>
          </a:p>
          <a:p>
            <a:pPr algn="l"/>
            <a:r>
              <a:rPr sz="1030">
                <a:solidFill>
                  <a:srgbClr val="F5A623"/>
                </a:solidFill>
                <a:latin typeface="Consolas"/>
              </a:rPr>
              <a:t>for</a:t>
            </a:r>
            <a:r>
              <a:rPr sz="1030">
                <a:solidFill>
                  <a:srgbClr val="E4E4EF"/>
                </a:solidFill>
                <a:latin typeface="Consolas"/>
              </a:rPr>
              <a:t> (</a:t>
            </a:r>
            <a:r>
              <a:rPr sz="1030">
                <a:solidFill>
                  <a:srgbClr val="F5A623"/>
                </a:solidFill>
                <a:latin typeface="Consolas"/>
              </a:rPr>
              <a:t>var</a:t>
            </a:r>
            <a:r>
              <a:rPr sz="1030">
                <a:solidFill>
                  <a:srgbClr val="E4E4EF"/>
                </a:solidFill>
                <a:latin typeface="Consolas"/>
              </a:rPr>
              <a:t> fruta in frutas) {</a:t>
            </a:r>
          </a:p>
          <a:p>
            <a:pPr algn="l"/>
            <a:r>
              <a:rPr sz="1030">
                <a:solidFill>
                  <a:srgbClr val="E4E4EF"/>
                </a:solidFill>
                <a:latin typeface="Consolas"/>
              </a:rPr>
              <a:t>  print(fruta);</a:t>
            </a:r>
          </a:p>
          <a:p>
            <a:pPr algn="l"/>
            <a:r>
              <a:rPr sz="1030">
                <a:solidFill>
                  <a:srgbClr val="E4E4EF"/>
                </a:solidFill>
                <a:latin typeface="Consolas"/>
              </a:rPr>
              <a:t>}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65760" y="3246120"/>
            <a:ext cx="8412480" cy="1508760"/>
          </a:xfrm>
          <a:prstGeom prst="rect">
            <a:avLst/>
          </a:prstGeom>
          <a:solidFill>
            <a:srgbClr val="1E1E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493776" y="3364991"/>
            <a:ext cx="91440" cy="91440"/>
          </a:xfrm>
          <a:prstGeom prst="ellipse">
            <a:avLst/>
          </a:prstGeom>
          <a:solidFill>
            <a:srgbClr val="FF5F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640080" y="3364991"/>
            <a:ext cx="91440" cy="91440"/>
          </a:xfrm>
          <a:prstGeom prst="ellipse">
            <a:avLst/>
          </a:prstGeom>
          <a:solidFill>
            <a:srgbClr val="FFBD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786384" y="3364991"/>
            <a:ext cx="91440" cy="91440"/>
          </a:xfrm>
          <a:prstGeom prst="ellipse">
            <a:avLst/>
          </a:prstGeom>
          <a:solidFill>
            <a:srgbClr val="27C9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60120" y="3300984"/>
            <a:ext cx="7680959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A0AABB"/>
                </a:solidFill>
                <a:latin typeface="Consolas"/>
              </a:rPr>
              <a:t>while.dart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21792" y="3630168"/>
            <a:ext cx="7955279" cy="10058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>
                <a:solidFill>
                  <a:srgbClr val="6B7280"/>
                </a:solidFill>
                <a:latin typeface="Consolas"/>
              </a:rPr>
              <a:t>// while</a:t>
            </a:r>
          </a:p>
          <a:p>
            <a:pPr algn="l"/>
            <a:r>
              <a:rPr sz="1100">
                <a:solidFill>
                  <a:srgbClr val="C79BF5"/>
                </a:solidFill>
                <a:latin typeface="Consolas"/>
              </a:rPr>
              <a:t>int</a:t>
            </a:r>
            <a:r>
              <a:rPr sz="1100">
                <a:solidFill>
                  <a:srgbClr val="E4E4EF"/>
                </a:solidFill>
                <a:latin typeface="Consolas"/>
              </a:rPr>
              <a:t> intentos = </a:t>
            </a:r>
            <a:r>
              <a:rPr sz="1100">
                <a:solidFill>
                  <a:srgbClr val="7DC4E8"/>
                </a:solidFill>
                <a:latin typeface="Consolas"/>
              </a:rPr>
              <a:t>0</a:t>
            </a:r>
            <a:r>
              <a:rPr sz="1100">
                <a:solidFill>
                  <a:srgbClr val="E4E4EF"/>
                </a:solidFill>
                <a:latin typeface="Consolas"/>
              </a:rPr>
              <a:t>;</a:t>
            </a:r>
          </a:p>
          <a:p>
            <a:pPr algn="l"/>
            <a:r>
              <a:rPr sz="1100">
                <a:solidFill>
                  <a:srgbClr val="F5A623"/>
                </a:solidFill>
                <a:latin typeface="Consolas"/>
              </a:rPr>
              <a:t>while</a:t>
            </a:r>
            <a:r>
              <a:rPr sz="1100">
                <a:solidFill>
                  <a:srgbClr val="E4E4EF"/>
                </a:solidFill>
                <a:latin typeface="Consolas"/>
              </a:rPr>
              <a:t> (intentos &lt; </a:t>
            </a:r>
            <a:r>
              <a:rPr sz="1100">
                <a:solidFill>
                  <a:srgbClr val="7DC4E8"/>
                </a:solidFill>
                <a:latin typeface="Consolas"/>
              </a:rPr>
              <a:t>3</a:t>
            </a:r>
            <a:r>
              <a:rPr sz="1100">
                <a:solidFill>
                  <a:srgbClr val="E4E4EF"/>
                </a:solidFill>
                <a:latin typeface="Consolas"/>
              </a:rPr>
              <a:t>) {</a:t>
            </a:r>
          </a:p>
          <a:p>
            <a:pPr algn="l"/>
            <a:r>
              <a:rPr sz="1100">
                <a:solidFill>
                  <a:srgbClr val="E4E4EF"/>
                </a:solidFill>
                <a:latin typeface="Consolas"/>
              </a:rPr>
              <a:t>  intentos++;</a:t>
            </a:r>
          </a:p>
          <a:p>
            <a:pPr algn="l"/>
            <a:r>
              <a:rPr sz="1100">
                <a:solidFill>
                  <a:srgbClr val="E4E4EF"/>
                </a:solidFill>
                <a:latin typeface="Consolas"/>
              </a:rPr>
              <a:t>  print(</a:t>
            </a:r>
            <a:r>
              <a:rPr sz="1100">
                <a:solidFill>
                  <a:srgbClr val="8BD47E"/>
                </a:solidFill>
                <a:latin typeface="Consolas"/>
              </a:rPr>
              <a:t>'Intento $intentos'</a:t>
            </a:r>
            <a:r>
              <a:rPr sz="1100">
                <a:solidFill>
                  <a:srgbClr val="E4E4EF"/>
                </a:solidFill>
                <a:latin typeface="Consolas"/>
              </a:rPr>
              <a:t>);</a:t>
            </a:r>
          </a:p>
          <a:p>
            <a:pPr algn="l"/>
            <a:r>
              <a:rPr sz="1100">
                <a:solidFill>
                  <a:srgbClr val="E4E4EF"/>
                </a:solidFill>
                <a:latin typeface="Consolas"/>
              </a:rPr>
              <a:t>}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F1F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E877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164592"/>
            <a:ext cx="7315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E87722"/>
                </a:solidFill>
                <a:latin typeface="Calibri"/>
              </a:rPr>
              <a:t>PREPARANDO EL TERRENO PARA FLUTTER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457200"/>
            <a:ext cx="8229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500" b="1" i="0">
                <a:solidFill>
                  <a:srgbClr val="FFFFFF"/>
                </a:solidFill>
                <a:latin typeface="Calibri"/>
              </a:rPr>
              <a:t>Clases: la base de los Widgets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987552"/>
            <a:ext cx="82296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C8D4E8"/>
                </a:solidFill>
                <a:latin typeface="Calibri"/>
              </a:rPr>
              <a:t>En Flutter, absolutamente todo lo que ves en pantalla es una clase</a:t>
            </a:r>
          </a:p>
        </p:txBody>
      </p:sp>
      <p:sp>
        <p:nvSpPr>
          <p:cNvPr id="7" name="Rectangle 6"/>
          <p:cNvSpPr/>
          <p:nvPr/>
        </p:nvSpPr>
        <p:spPr>
          <a:xfrm>
            <a:off x="365760" y="1417320"/>
            <a:ext cx="5394960" cy="3383280"/>
          </a:xfrm>
          <a:prstGeom prst="rect">
            <a:avLst/>
          </a:prstGeom>
          <a:solidFill>
            <a:srgbClr val="1E1E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493776" y="1536192"/>
            <a:ext cx="91440" cy="91440"/>
          </a:xfrm>
          <a:prstGeom prst="ellipse">
            <a:avLst/>
          </a:prstGeom>
          <a:solidFill>
            <a:srgbClr val="FF5F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640080" y="1536192"/>
            <a:ext cx="91440" cy="91440"/>
          </a:xfrm>
          <a:prstGeom prst="ellipse">
            <a:avLst/>
          </a:prstGeom>
          <a:solidFill>
            <a:srgbClr val="FFBD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786384" y="1536192"/>
            <a:ext cx="91440" cy="91440"/>
          </a:xfrm>
          <a:prstGeom prst="ellipse">
            <a:avLst/>
          </a:prstGeom>
          <a:solidFill>
            <a:srgbClr val="27C9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60120" y="1472184"/>
            <a:ext cx="46634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A0AABB"/>
                </a:solidFill>
                <a:latin typeface="Consolas"/>
              </a:rPr>
              <a:t>estudiante.dart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21792" y="1801368"/>
            <a:ext cx="4937760" cy="2880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80">
                <a:solidFill>
                  <a:srgbClr val="F5A623"/>
                </a:solidFill>
                <a:latin typeface="Consolas"/>
              </a:rPr>
              <a:t>class</a:t>
            </a:r>
            <a:r>
              <a:rPr sz="1080">
                <a:solidFill>
                  <a:srgbClr val="E4E4EF"/>
                </a:solidFill>
                <a:latin typeface="Consolas"/>
              </a:rPr>
              <a:t> Estudiante {</a:t>
            </a:r>
          </a:p>
          <a:p>
            <a:pPr algn="l"/>
            <a:r>
              <a:rPr sz="1080">
                <a:solidFill>
                  <a:srgbClr val="E4E4EF"/>
                </a:solidFill>
                <a:latin typeface="Consolas"/>
              </a:rPr>
              <a:t>  </a:t>
            </a:r>
            <a:r>
              <a:rPr sz="1080">
                <a:solidFill>
                  <a:srgbClr val="C79BF5"/>
                </a:solidFill>
                <a:latin typeface="Consolas"/>
              </a:rPr>
              <a:t>String</a:t>
            </a:r>
            <a:r>
              <a:rPr sz="1080">
                <a:solidFill>
                  <a:srgbClr val="E4E4EF"/>
                </a:solidFill>
                <a:latin typeface="Consolas"/>
              </a:rPr>
              <a:t> nombre;</a:t>
            </a:r>
          </a:p>
          <a:p>
            <a:pPr algn="l"/>
            <a:r>
              <a:rPr sz="1080">
                <a:solidFill>
                  <a:srgbClr val="E4E4EF"/>
                </a:solidFill>
                <a:latin typeface="Consolas"/>
              </a:rPr>
              <a:t>  </a:t>
            </a:r>
            <a:r>
              <a:rPr sz="1080">
                <a:solidFill>
                  <a:srgbClr val="C79BF5"/>
                </a:solidFill>
                <a:latin typeface="Consolas"/>
              </a:rPr>
              <a:t>int</a:t>
            </a:r>
            <a:r>
              <a:rPr sz="1080">
                <a:solidFill>
                  <a:srgbClr val="E4E4EF"/>
                </a:solidFill>
                <a:latin typeface="Consolas"/>
              </a:rPr>
              <a:t> semestre;</a:t>
            </a:r>
          </a:p>
          <a:p>
            <a:pPr algn="l"/>
            <a:r>
              <a:rPr sz="1080">
                <a:solidFill>
                  <a:srgbClr val="E4E4EF"/>
                </a:solidFill>
                <a:latin typeface="Consolas"/>
              </a:rPr>
              <a:t> </a:t>
            </a:r>
          </a:p>
          <a:p>
            <a:pPr algn="l"/>
            <a:r>
              <a:rPr sz="1080">
                <a:solidFill>
                  <a:srgbClr val="E4E4EF"/>
                </a:solidFill>
                <a:latin typeface="Consolas"/>
              </a:rPr>
              <a:t>  </a:t>
            </a:r>
            <a:r>
              <a:rPr sz="1080">
                <a:solidFill>
                  <a:srgbClr val="6B7280"/>
                </a:solidFill>
                <a:latin typeface="Consolas"/>
              </a:rPr>
              <a:t>// Constructor</a:t>
            </a:r>
          </a:p>
          <a:p>
            <a:pPr algn="l"/>
            <a:r>
              <a:rPr sz="1080">
                <a:solidFill>
                  <a:srgbClr val="E4E4EF"/>
                </a:solidFill>
                <a:latin typeface="Consolas"/>
              </a:rPr>
              <a:t>  Estudiante(</a:t>
            </a:r>
            <a:r>
              <a:rPr sz="1080">
                <a:solidFill>
                  <a:srgbClr val="F5A623"/>
                </a:solidFill>
                <a:latin typeface="Consolas"/>
              </a:rPr>
              <a:t>this</a:t>
            </a:r>
            <a:r>
              <a:rPr sz="1080">
                <a:solidFill>
                  <a:srgbClr val="E4E4EF"/>
                </a:solidFill>
                <a:latin typeface="Consolas"/>
              </a:rPr>
              <a:t>.nombre, </a:t>
            </a:r>
            <a:r>
              <a:rPr sz="1080">
                <a:solidFill>
                  <a:srgbClr val="F5A623"/>
                </a:solidFill>
                <a:latin typeface="Consolas"/>
              </a:rPr>
              <a:t>this</a:t>
            </a:r>
            <a:r>
              <a:rPr sz="1080">
                <a:solidFill>
                  <a:srgbClr val="E4E4EF"/>
                </a:solidFill>
                <a:latin typeface="Consolas"/>
              </a:rPr>
              <a:t>.semestre);</a:t>
            </a:r>
          </a:p>
          <a:p>
            <a:pPr algn="l"/>
            <a:r>
              <a:rPr sz="1080">
                <a:solidFill>
                  <a:srgbClr val="E4E4EF"/>
                </a:solidFill>
                <a:latin typeface="Consolas"/>
              </a:rPr>
              <a:t> </a:t>
            </a:r>
          </a:p>
          <a:p>
            <a:pPr algn="l"/>
            <a:r>
              <a:rPr sz="1080">
                <a:solidFill>
                  <a:srgbClr val="E4E4EF"/>
                </a:solidFill>
                <a:latin typeface="Consolas"/>
              </a:rPr>
              <a:t>  </a:t>
            </a:r>
            <a:r>
              <a:rPr sz="1080">
                <a:solidFill>
                  <a:srgbClr val="F5A623"/>
                </a:solidFill>
                <a:latin typeface="Consolas"/>
              </a:rPr>
              <a:t>void</a:t>
            </a:r>
            <a:r>
              <a:rPr sz="1080">
                <a:solidFill>
                  <a:srgbClr val="E4E4EF"/>
                </a:solidFill>
                <a:latin typeface="Consolas"/>
              </a:rPr>
              <a:t> presentarse() {</a:t>
            </a:r>
          </a:p>
          <a:p>
            <a:pPr algn="l"/>
            <a:r>
              <a:rPr sz="1080">
                <a:solidFill>
                  <a:srgbClr val="E4E4EF"/>
                </a:solidFill>
                <a:latin typeface="Consolas"/>
              </a:rPr>
              <a:t>    print(</a:t>
            </a:r>
            <a:r>
              <a:rPr sz="1080">
                <a:solidFill>
                  <a:srgbClr val="8BD47E"/>
                </a:solidFill>
                <a:latin typeface="Consolas"/>
              </a:rPr>
              <a:t>'Soy $nombre, semestre $semestre'</a:t>
            </a:r>
            <a:r>
              <a:rPr sz="1080">
                <a:solidFill>
                  <a:srgbClr val="E4E4EF"/>
                </a:solidFill>
                <a:latin typeface="Consolas"/>
              </a:rPr>
              <a:t>);</a:t>
            </a:r>
          </a:p>
          <a:p>
            <a:pPr algn="l"/>
            <a:r>
              <a:rPr sz="1080">
                <a:solidFill>
                  <a:srgbClr val="E4E4EF"/>
                </a:solidFill>
                <a:latin typeface="Consolas"/>
              </a:rPr>
              <a:t>  }</a:t>
            </a:r>
          </a:p>
          <a:p>
            <a:pPr algn="l"/>
            <a:r>
              <a:rPr sz="1080">
                <a:solidFill>
                  <a:srgbClr val="E4E4EF"/>
                </a:solidFill>
                <a:latin typeface="Consolas"/>
              </a:rPr>
              <a:t>}</a:t>
            </a:r>
          </a:p>
          <a:p>
            <a:pPr algn="l"/>
            <a:r>
              <a:rPr sz="1080">
                <a:solidFill>
                  <a:srgbClr val="E4E4EF"/>
                </a:solidFill>
                <a:latin typeface="Consolas"/>
              </a:rPr>
              <a:t> </a:t>
            </a:r>
          </a:p>
          <a:p>
            <a:pPr algn="l"/>
            <a:r>
              <a:rPr sz="1080">
                <a:solidFill>
                  <a:srgbClr val="F5A623"/>
                </a:solidFill>
                <a:latin typeface="Consolas"/>
              </a:rPr>
              <a:t>var</a:t>
            </a:r>
            <a:r>
              <a:rPr sz="1080">
                <a:solidFill>
                  <a:srgbClr val="E4E4EF"/>
                </a:solidFill>
                <a:latin typeface="Consolas"/>
              </a:rPr>
              <a:t> e1 = Estudiante(</a:t>
            </a:r>
            <a:r>
              <a:rPr sz="1080">
                <a:solidFill>
                  <a:srgbClr val="8BD47E"/>
                </a:solidFill>
                <a:latin typeface="Consolas"/>
              </a:rPr>
              <a:t>'Sofia'</a:t>
            </a:r>
            <a:r>
              <a:rPr sz="1080">
                <a:solidFill>
                  <a:srgbClr val="E4E4EF"/>
                </a:solidFill>
                <a:latin typeface="Consolas"/>
              </a:rPr>
              <a:t>, </a:t>
            </a:r>
            <a:r>
              <a:rPr sz="1080">
                <a:solidFill>
                  <a:srgbClr val="7DC4E8"/>
                </a:solidFill>
                <a:latin typeface="Consolas"/>
              </a:rPr>
              <a:t>3</a:t>
            </a:r>
            <a:r>
              <a:rPr sz="1080">
                <a:solidFill>
                  <a:srgbClr val="E4E4EF"/>
                </a:solidFill>
                <a:latin typeface="Consolas"/>
              </a:rPr>
              <a:t>);</a:t>
            </a:r>
          </a:p>
          <a:p>
            <a:pPr algn="l"/>
            <a:r>
              <a:rPr sz="1080">
                <a:solidFill>
                  <a:srgbClr val="E4E4EF"/>
                </a:solidFill>
                <a:latin typeface="Consolas"/>
              </a:rPr>
              <a:t>e1.presentarse();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989320" y="1463040"/>
            <a:ext cx="2834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1" i="0">
                <a:solidFill>
                  <a:srgbClr val="E87722"/>
                </a:solidFill>
                <a:latin typeface="Calibri"/>
              </a:rPr>
              <a:t>Por que esto importa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989320" y="1874519"/>
            <a:ext cx="283464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00"/>
              </a:spcAft>
            </a:pPr>
            <a:r>
              <a:rPr sz="1050" b="0">
                <a:solidFill>
                  <a:srgbClr val="C8D4E8"/>
                </a:solidFill>
                <a:latin typeface="Calibri"/>
              </a:rPr>
              <a:t>class define un molde para</a:t>
            </a:r>
          </a:p>
          <a:p>
            <a:pPr algn="l">
              <a:spcAft>
                <a:spcPts val="300"/>
              </a:spcAft>
            </a:pPr>
            <a:r>
              <a:rPr sz="1050" b="0">
                <a:solidFill>
                  <a:srgbClr val="C8D4E8"/>
                </a:solidFill>
                <a:latin typeface="Calibri"/>
              </a:rPr>
              <a:t>crear objetos con datos propios.</a:t>
            </a:r>
          </a:p>
          <a:p>
            <a:pPr algn="l">
              <a:spcAft>
                <a:spcPts val="300"/>
              </a:spcAft>
            </a:pPr>
            <a:r>
              <a:rPr sz="1050" b="0">
                <a:solidFill>
                  <a:srgbClr val="C8D4E8"/>
                </a:solidFill>
                <a:latin typeface="Calibri"/>
              </a:rPr>
              <a:t/>
            </a:r>
          </a:p>
          <a:p>
            <a:pPr algn="l">
              <a:spcAft>
                <a:spcPts val="300"/>
              </a:spcAft>
            </a:pPr>
            <a:r>
              <a:rPr sz="1050" b="0">
                <a:solidFill>
                  <a:srgbClr val="C8D4E8"/>
                </a:solidFill>
                <a:latin typeface="Calibri"/>
              </a:rPr>
              <a:t>El constructor recibe valores</a:t>
            </a:r>
          </a:p>
          <a:p>
            <a:pPr algn="l">
              <a:spcAft>
                <a:spcPts val="300"/>
              </a:spcAft>
            </a:pPr>
            <a:r>
              <a:rPr sz="1050" b="0">
                <a:solidFill>
                  <a:srgbClr val="C8D4E8"/>
                </a:solidFill>
                <a:latin typeface="Calibri"/>
              </a:rPr>
              <a:t>iniciales al crear el objeto.</a:t>
            </a:r>
          </a:p>
          <a:p>
            <a:pPr algn="l">
              <a:spcAft>
                <a:spcPts val="300"/>
              </a:spcAft>
            </a:pPr>
            <a:r>
              <a:rPr sz="1050" b="0">
                <a:solidFill>
                  <a:srgbClr val="C8D4E8"/>
                </a:solidFill>
                <a:latin typeface="Calibri"/>
              </a:rPr>
              <a:t/>
            </a:r>
          </a:p>
          <a:p>
            <a:pPr algn="l">
              <a:spcAft>
                <a:spcPts val="300"/>
              </a:spcAft>
            </a:pPr>
            <a:r>
              <a:rPr sz="1050" b="0">
                <a:solidFill>
                  <a:srgbClr val="C8D4E8"/>
                </a:solidFill>
                <a:latin typeface="Calibri"/>
              </a:rPr>
              <a:t>Cuando lleguemos a Flutter,</a:t>
            </a:r>
          </a:p>
          <a:p>
            <a:pPr algn="l">
              <a:spcAft>
                <a:spcPts val="300"/>
              </a:spcAft>
            </a:pPr>
            <a:r>
              <a:rPr sz="1050" b="0">
                <a:solidFill>
                  <a:srgbClr val="C8D4E8"/>
                </a:solidFill>
                <a:latin typeface="Calibri"/>
              </a:rPr>
              <a:t>cada boton, texto o pantalla</a:t>
            </a:r>
          </a:p>
          <a:p>
            <a:pPr algn="l">
              <a:spcAft>
                <a:spcPts val="300"/>
              </a:spcAft>
            </a:pPr>
            <a:r>
              <a:rPr sz="1050" b="0">
                <a:solidFill>
                  <a:srgbClr val="C8D4E8"/>
                </a:solidFill>
                <a:latin typeface="Calibri"/>
              </a:rPr>
              <a:t>sera una clase como esta.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E877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164592"/>
            <a:ext cx="7315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E87722"/>
                </a:solidFill>
                <a:latin typeface="Calibri"/>
              </a:rPr>
              <a:t>PRACTICA — 15 MINUTOS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457200"/>
            <a:ext cx="8229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700" b="1" i="0">
                <a:solidFill>
                  <a:srgbClr val="1B2F5B"/>
                </a:solidFill>
                <a:latin typeface="Calibri"/>
              </a:rPr>
              <a:t>Reto en vivo en DartPad</a:t>
            </a:r>
          </a:p>
        </p:txBody>
      </p:sp>
      <p:sp>
        <p:nvSpPr>
          <p:cNvPr id="6" name="Rectangle 5"/>
          <p:cNvSpPr/>
          <p:nvPr/>
        </p:nvSpPr>
        <p:spPr>
          <a:xfrm>
            <a:off x="365760" y="1188720"/>
            <a:ext cx="8412480" cy="1828800"/>
          </a:xfrm>
          <a:prstGeom prst="rect">
            <a:avLst/>
          </a:prstGeom>
          <a:solidFill>
            <a:srgbClr val="FFF7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94360" y="1325880"/>
            <a:ext cx="7315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E87722"/>
                </a:solidFill>
                <a:latin typeface="Calibri"/>
              </a:rPr>
              <a:t>Tu mision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1737360"/>
            <a:ext cx="7955279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500"/>
              </a:spcAft>
            </a:pPr>
            <a:r>
              <a:rPr sz="1200" b="0">
                <a:solidFill>
                  <a:srgbClr val="374151"/>
                </a:solidFill>
                <a:latin typeface="Calibri"/>
              </a:rPr>
              <a:t>1.  Crea una clase Producto con nombre (String) y precio (double).</a:t>
            </a:r>
          </a:p>
          <a:p>
            <a:pPr algn="l">
              <a:spcAft>
                <a:spcPts val="500"/>
              </a:spcAft>
            </a:pPr>
            <a:r>
              <a:rPr sz="1200" b="0">
                <a:solidFill>
                  <a:srgbClr val="374151"/>
                </a:solidFill>
                <a:latin typeface="Calibri"/>
              </a:rPr>
              <a:t>2.  Agrega un metodo mostrarInfo() que imprima nombre y precio.</a:t>
            </a:r>
          </a:p>
          <a:p>
            <a:pPr algn="l">
              <a:spcAft>
                <a:spcPts val="500"/>
              </a:spcAft>
            </a:pPr>
            <a:r>
              <a:rPr sz="1200" b="0">
                <a:solidFill>
                  <a:srgbClr val="374151"/>
                </a:solidFill>
                <a:latin typeface="Calibri"/>
              </a:rPr>
              <a:t>3.  Crea una List&lt;Producto&gt; con al menos 3 productos.</a:t>
            </a:r>
          </a:p>
          <a:p>
            <a:pPr algn="l">
              <a:spcAft>
                <a:spcPts val="500"/>
              </a:spcAft>
            </a:pPr>
            <a:r>
              <a:rPr sz="1200" b="0">
                <a:solidFill>
                  <a:srgbClr val="374151"/>
                </a:solidFill>
                <a:latin typeface="Calibri"/>
              </a:rPr>
              <a:t>4.  Usa un for-in para imprimir la info de todos los productos.</a:t>
            </a:r>
          </a:p>
          <a:p>
            <a:pPr algn="l">
              <a:spcAft>
                <a:spcPts val="500"/>
              </a:spcAft>
            </a:pPr>
            <a:r>
              <a:rPr sz="1200" b="0">
                <a:solidFill>
                  <a:srgbClr val="374151"/>
                </a:solidFill>
                <a:latin typeface="Calibri"/>
              </a:rPr>
              <a:t>5.  Bonus: suma el precio total con una variable acumuladora.</a:t>
            </a:r>
          </a:p>
        </p:txBody>
      </p:sp>
      <p:sp>
        <p:nvSpPr>
          <p:cNvPr id="9" name="Rectangle 8"/>
          <p:cNvSpPr/>
          <p:nvPr/>
        </p:nvSpPr>
        <p:spPr>
          <a:xfrm>
            <a:off x="365760" y="3246120"/>
            <a:ext cx="4114800" cy="1371600"/>
          </a:xfrm>
          <a:prstGeom prst="rect">
            <a:avLst/>
          </a:prstGeom>
          <a:solidFill>
            <a:srgbClr val="1B2F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94360" y="3383280"/>
            <a:ext cx="36576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E87722"/>
                </a:solidFill>
                <a:latin typeface="Calibri"/>
              </a:rPr>
              <a:t>Como trabajar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4360" y="3703320"/>
            <a:ext cx="3657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00"/>
              </a:spcAft>
            </a:pPr>
            <a:r>
              <a:rPr sz="1050" b="0">
                <a:solidFill>
                  <a:srgbClr val="FFFFFF"/>
                </a:solidFill>
                <a:latin typeface="Calibri"/>
              </a:rPr>
              <a:t>Individual o en parejas</a:t>
            </a:r>
          </a:p>
          <a:p>
            <a:pPr algn="l">
              <a:spcAft>
                <a:spcPts val="300"/>
              </a:spcAft>
            </a:pPr>
            <a:r>
              <a:rPr sz="1050" b="0">
                <a:solidFill>
                  <a:srgbClr val="FFFFFF"/>
                </a:solidFill>
                <a:latin typeface="Calibri"/>
              </a:rPr>
              <a:t>Todo en dartpad.dev</a:t>
            </a:r>
          </a:p>
          <a:p>
            <a:pPr algn="l">
              <a:spcAft>
                <a:spcPts val="300"/>
              </a:spcAft>
            </a:pPr>
            <a:r>
              <a:rPr sz="1050" b="0">
                <a:solidFill>
                  <a:srgbClr val="FFFFFF"/>
                </a:solidFill>
                <a:latin typeface="Calibri"/>
              </a:rPr>
              <a:t>El docente pasa a resolver dudas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663440" y="3246120"/>
            <a:ext cx="4114800" cy="1371600"/>
          </a:xfrm>
          <a:prstGeom prst="rect">
            <a:avLst/>
          </a:prstGeom>
          <a:solidFill>
            <a:srgbClr val="0D7A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892040" y="3383280"/>
            <a:ext cx="36576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Calibri"/>
              </a:rPr>
              <a:t>Al terminar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892040" y="3703320"/>
            <a:ext cx="3657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00"/>
              </a:spcAft>
            </a:pPr>
            <a:r>
              <a:rPr sz="1050" b="0">
                <a:solidFill>
                  <a:srgbClr val="FFFFFF"/>
                </a:solidFill>
                <a:latin typeface="Calibri"/>
              </a:rPr>
              <a:t>Comparte el link de tu DartPad</a:t>
            </a:r>
          </a:p>
          <a:p>
            <a:pPr algn="l">
              <a:spcAft>
                <a:spcPts val="300"/>
              </a:spcAft>
            </a:pPr>
            <a:r>
              <a:rPr sz="1050" b="0">
                <a:solidFill>
                  <a:srgbClr val="FFFFFF"/>
                </a:solidFill>
                <a:latin typeface="Calibri"/>
              </a:rPr>
              <a:t>en el chat del curso</a:t>
            </a:r>
          </a:p>
          <a:p>
            <a:pPr algn="l">
              <a:spcAft>
                <a:spcPts val="300"/>
              </a:spcAft>
            </a:pPr>
            <a:r>
              <a:rPr sz="1050" b="0">
                <a:solidFill>
                  <a:srgbClr val="FFFFFF"/>
                </a:solidFill>
                <a:latin typeface="Calibri"/>
              </a:rPr>
              <a:t>2 o 3 voluntarios muestran su solucion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F1F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828032"/>
            <a:ext cx="9144000" cy="320040"/>
          </a:xfrm>
          <a:prstGeom prst="rect">
            <a:avLst/>
          </a:prstGeom>
          <a:solidFill>
            <a:srgbClr val="E877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5029200" y="182880"/>
            <a:ext cx="5029200" cy="5029200"/>
          </a:xfrm>
          <a:prstGeom prst="ellipse">
            <a:avLst/>
          </a:prstGeom>
          <a:solidFill>
            <a:srgbClr val="141C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6400800" y="1737360"/>
            <a:ext cx="2743200" cy="2743200"/>
          </a:xfrm>
          <a:prstGeom prst="ellipse">
            <a:avLst/>
          </a:prstGeom>
          <a:solidFill>
            <a:srgbClr val="2135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640080"/>
            <a:ext cx="47548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FFFFFF"/>
                </a:solidFill>
                <a:latin typeface="Calibri"/>
              </a:rPr>
              <a:t>Antes de irte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417320"/>
            <a:ext cx="45720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C8D4E8"/>
                </a:solidFill>
                <a:latin typeface="Calibri"/>
              </a:rPr>
              <a:t>Practica hoy en dartpad.dev.</a:t>
            </a:r>
          </a:p>
          <a:p>
            <a:pPr algn="l"/>
            <a:r>
              <a:rPr sz="1400" b="0">
                <a:solidFill>
                  <a:srgbClr val="C8D4E8"/>
                </a:solidFill>
                <a:latin typeface="Calibri"/>
              </a:rPr>
              <a:t>La proxima clase seguimos con</a:t>
            </a:r>
          </a:p>
          <a:p>
            <a:pPr algn="l"/>
            <a:r>
              <a:rPr sz="1400" b="0">
                <a:solidFill>
                  <a:srgbClr val="C8D4E8"/>
                </a:solidFill>
                <a:latin typeface="Calibri"/>
              </a:rPr>
              <a:t>Widgets y la estructura de Flutter.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2606040"/>
            <a:ext cx="4480560" cy="822960"/>
          </a:xfrm>
          <a:prstGeom prst="rect">
            <a:avLst/>
          </a:prstGeom>
          <a:solidFill>
            <a:srgbClr val="E877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" y="2697480"/>
            <a:ext cx="42062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1" i="0">
                <a:solidFill>
                  <a:srgbClr val="FFFFFF"/>
                </a:solidFill>
                <a:latin typeface="Calibri"/>
              </a:rPr>
              <a:t>Recordatorio: Entrega 0 (5%)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2971800"/>
            <a:ext cx="42062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  <a:latin typeface="Calibri"/>
              </a:rPr>
              <a:t>Entorno instalado + repo en GitHub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3703320"/>
            <a:ext cx="54864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A0AABB"/>
                </a:solidFill>
                <a:latin typeface="Calibri"/>
              </a:rPr>
              <a:t>juanduque-ipb.github.io/et0126-dispositivos-moviles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4480560"/>
            <a:ext cx="5486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708099"/>
                </a:solidFill>
                <a:latin typeface="Calibri"/>
              </a:rPr>
              <a:t>I.U. Pascual Bravo · ET0126 · Juan Duque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