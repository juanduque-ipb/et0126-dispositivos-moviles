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60720" y="-548640"/>
            <a:ext cx="3840480" cy="3840480"/>
          </a:xfrm>
          <a:prstGeom prst="ellipse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0" y="1280160"/>
            <a:ext cx="2377440" cy="2377440"/>
          </a:xfrm>
          <a:prstGeom prst="ellipse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AABB"/>
                </a:solidFill>
                <a:latin typeface="Calibri"/>
              </a:rPr>
              <a:t>I.U. PASCUAL BRAVO · ET0126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722"/>
                </a:solidFill>
                <a:latin typeface="Calibri"/>
              </a:rPr>
              <a:t>CLASE 3 · LUNES 31 DE AGOSTO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Introduccion a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Flutter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07792"/>
            <a:ext cx="109728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5409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8"/>
                </a:solidFill>
                <a:latin typeface="Calibri"/>
              </a:rPr>
              <a:t>Por que este framework y no otro? Ventajas, limitaciones y 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0156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Ya sabes Dart. Hoy conoces la herramienta que lo pone en pantalla.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9"/>
                </a:solidFill>
                <a:latin typeface="Calibri"/>
              </a:rPr>
              <a:t>juanduque-ipb.github.io/et0126-dispositivos-moviles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RECORDANDO — CLASE ANTERIOR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Ya tienes las bases de 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2296" cy="1417320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350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Sintaxis y tipos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556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Variables, null safety, funciones, colecciones, control de flujo.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1887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188720"/>
            <a:ext cx="82296" cy="14173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13350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Clases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17556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Ya sabes crear una clase con atributos, constructor y metodos.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82296" cy="1417320"/>
          </a:xfrm>
          <a:prstGeom prst="rect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9352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DartPad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558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Puedes escribir y ejecutar Dart sin instalar nada.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788920"/>
            <a:ext cx="42062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788920"/>
            <a:ext cx="82296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293522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F5B"/>
                </a:solidFill>
                <a:latin typeface="Calibri"/>
              </a:rPr>
              <a:t>El taller en curso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355848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Estas aplicando todo eso ahora mismo, con entrega el 13 de septiembre.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Dart es el idioma. Hoy conoces el escenario donde se actua: Flutter.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AGENDA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Introduccion a Flutter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07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Que es Flutter y que problema resuelve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188720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21615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1207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Ventaja: una sola base de codigo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2938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920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Ventaja: hot reload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901952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92938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1920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Ventaja: rendimiento casi nativo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15184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4261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6334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Ventaja: todo es un widget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615184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64261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26334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Flutter vs las alternativas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5584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346703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Cuando Flutter NO es la mejor opcion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328415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355847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3346703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Quien usa Flutter en produccion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41648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06908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05993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Arquitectura basica y el arbol de widgets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4041648"/>
            <a:ext cx="36576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06908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6088" y="405993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i="0">
                <a:solidFill>
                  <a:srgbClr val="374151"/>
                </a:solidFill>
                <a:latin typeface="Calibri"/>
              </a:rPr>
              <a:t>Primer proyecto: flutter create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DEFINICION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 es Flutter?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41248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Flutter es un framework de codigo abierto creado por Google para construir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aplicaciones nativas para Android, iOS, web y escritorio desde una sola base de codigo,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escrita en Dart.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Calibri"/>
              </a:rPr>
              <a:t>Sus 3 piezas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2697480" cy="1508760"/>
          </a:xfrm>
          <a:prstGeom prst="rect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3649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7490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4E8"/>
                </a:solidFill>
                <a:latin typeface="Calibri"/>
              </a:rPr>
              <a:t>El lenguaje. Ya lo conoces.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3200400"/>
            <a:ext cx="2697480" cy="1508760"/>
          </a:xfrm>
          <a:prstGeom prst="rect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33649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Widgets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37490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4E8"/>
                </a:solidFill>
                <a:latin typeface="Calibri"/>
              </a:rPr>
              <a:t>Los bloques con los que se construye la interfaz.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3200400"/>
            <a:ext cx="2697480" cy="1508760"/>
          </a:xfrm>
          <a:prstGeom prst="rect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33649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Motor de renderizado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37490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8D4E8"/>
                </a:solidFill>
                <a:latin typeface="Calibri"/>
              </a:rPr>
              <a:t>Dibuja cada pixel — no usa componentes nativos ni WebView.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EL PROBLEMA ANTES DE FLUTTER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F5B"/>
                </a:solidFill>
                <a:latin typeface="Calibri"/>
              </a:rPr>
              <a:t>Dos apps, dos equipos, doble trabajo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114800" cy="3200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Forma tradicional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856231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Un equipo escribe la app en Kotlin/Java para Android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235915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Otro equipo escribe la MISMA app en Swift para iOS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286207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788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Cada bug se corrige dos veces, en dos lenguajes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336499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918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Las dos versiones se desincronizan con el tiempo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867912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7947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El doble de tiempo y de costo de desarrollo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188720"/>
            <a:ext cx="4114800" cy="3200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7A55"/>
                </a:solidFill>
                <a:latin typeface="Calibri"/>
              </a:rPr>
              <a:t>Con Flutter</a:t>
            </a:r>
          </a:p>
        </p:txBody>
      </p:sp>
      <p:sp>
        <p:nvSpPr>
          <p:cNvPr id="20" name="Oval 19"/>
          <p:cNvSpPr/>
          <p:nvPr/>
        </p:nvSpPr>
        <p:spPr>
          <a:xfrm>
            <a:off x="4919472" y="1856231"/>
            <a:ext cx="91440" cy="91440"/>
          </a:xfrm>
          <a:prstGeom prst="ellipse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7830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Un solo equipo, un solo lenguaje: Dart</a:t>
            </a:r>
          </a:p>
        </p:txBody>
      </p:sp>
      <p:sp>
        <p:nvSpPr>
          <p:cNvPr id="22" name="Oval 21"/>
          <p:cNvSpPr/>
          <p:nvPr/>
        </p:nvSpPr>
        <p:spPr>
          <a:xfrm>
            <a:off x="4919472" y="2359152"/>
            <a:ext cx="91440" cy="91440"/>
          </a:xfrm>
          <a:prstGeom prst="ellipse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22860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Una sola base de codigo para Android e iOS</a:t>
            </a:r>
          </a:p>
        </p:txBody>
      </p:sp>
      <p:sp>
        <p:nvSpPr>
          <p:cNvPr id="24" name="Oval 23"/>
          <p:cNvSpPr/>
          <p:nvPr/>
        </p:nvSpPr>
        <p:spPr>
          <a:xfrm>
            <a:off x="4919472" y="2862072"/>
            <a:ext cx="91440" cy="91440"/>
          </a:xfrm>
          <a:prstGeom prst="ellipse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2788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Un bug se corrige una vez, en un solo lugar</a:t>
            </a:r>
          </a:p>
        </p:txBody>
      </p:sp>
      <p:sp>
        <p:nvSpPr>
          <p:cNvPr id="26" name="Oval 25"/>
          <p:cNvSpPr/>
          <p:nvPr/>
        </p:nvSpPr>
        <p:spPr>
          <a:xfrm>
            <a:off x="4919472" y="3364992"/>
            <a:ext cx="91440" cy="91440"/>
          </a:xfrm>
          <a:prstGeom prst="ellipse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32918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Las dos versiones siempre estan sincronizadas</a:t>
            </a:r>
          </a:p>
        </p:txBody>
      </p:sp>
      <p:sp>
        <p:nvSpPr>
          <p:cNvPr id="28" name="Oval 27"/>
          <p:cNvSpPr/>
          <p:nvPr/>
        </p:nvSpPr>
        <p:spPr>
          <a:xfrm>
            <a:off x="4919472" y="3867912"/>
            <a:ext cx="91440" cy="91440"/>
          </a:xfrm>
          <a:prstGeom prst="ellipse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928" y="379476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i="0">
                <a:solidFill>
                  <a:srgbClr val="374151"/>
                </a:solidFill>
                <a:latin typeface="Calibri"/>
              </a:rPr>
              <a:t>Se reduce tiempo, costo y tamano del equipo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VENTAJA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Una sola base de codigo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onsolas"/>
              </a:rPr>
              <a:t>tu_proyecto/lib/main.dart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B2F5B"/>
                </a:solidFill>
                <a:latin typeface="Calibri"/>
              </a:rPr>
              <a:t>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7722"/>
                </a:solidFill>
                <a:latin typeface="Calibri"/>
              </a:rPr>
              <a:t>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18288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1488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B2F5B"/>
                </a:solidFill>
                <a:latin typeface="Calibri"/>
              </a:rPr>
              <a:t>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5727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7722"/>
                </a:solidFill>
                <a:latin typeface="Calibri"/>
              </a:rPr>
              <a:t>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18288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1488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B2F5B"/>
                </a:solidFill>
                <a:latin typeface="Calibri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5727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7722"/>
                </a:solidFill>
                <a:latin typeface="Calibri"/>
              </a:rPr>
              <a:t>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9983" y="1828800"/>
            <a:ext cx="19659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3" y="21488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B2F5B"/>
                </a:solidFill>
                <a:latin typeface="Calibri"/>
              </a:rPr>
              <a:t>Windows / macOS / 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3" y="15727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7722"/>
                </a:solidFill>
                <a:latin typeface="Calibri"/>
              </a:rPr>
              <a:t>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8412480" cy="1554480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2004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El mismo codigo Dart se compila a binarios nativos para cada plataforma.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No es una app web disfrazada de app movil: el resultado final corre igual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de rapido que una app escrita directamente en Kotlin o Swift.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VENTAJA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Hot Reload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8"/>
                </a:solidFill>
                <a:latin typeface="Calibri"/>
              </a:rPr>
              <a:t>Cambias el codigo y ves el resultado en menos de un segundo, sin perder el estado de la app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50876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819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8191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Tienes la app corriendo en el emulador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19456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6771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Cambias un color, un texto o un tamano en el codigo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288036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535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5351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Guardas el archivo (Ctrl+S)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356616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393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3931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 pantalla se actualiza al instante, sin reiniciar la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Sin Flutter: cambiar un color puede tomar 1-2 minutos de recompilacion completa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VENTAJA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F5B"/>
                </a:solidFill>
                <a:latin typeface="Calibri"/>
              </a:rPr>
              <a:t>Rendimiento casi nativo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Por que no es "solo otra app hibrida lenta"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97480" cy="30175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6974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F5B"/>
                </a:solidFill>
                <a:latin typeface="Calibri"/>
              </a:rPr>
              <a:t>Apps hibridas clasicas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C2626"/>
                </a:solidFill>
                <a:latin typeface="Calibri"/>
              </a:rPr>
              <a:t>Ionic, Cordova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7744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Corren dentro de un WebView (un navegador oculto). Se sienten mas lentas y menos fluidas.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1463040"/>
            <a:ext cx="2697480" cy="30175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832" y="1463040"/>
            <a:ext cx="2697480" cy="64008"/>
          </a:xfrm>
          <a:prstGeom prst="rect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F5B"/>
                </a:solidFill>
                <a:latin typeface="Calibri"/>
              </a:rPr>
              <a:t>Flutter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7A55"/>
                </a:solidFill>
                <a:latin typeface="Calibri"/>
              </a:rPr>
              <a:t>Motor propio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237744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Dibuja cada pixel directamente con su propio motor grafico (Skia / Impeller). No depende de componentes del sistema operativo.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1463040"/>
            <a:ext cx="2697480" cy="301752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1463040"/>
            <a:ext cx="2697480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F5B"/>
                </a:solidFill>
                <a:latin typeface="Calibri"/>
              </a:rPr>
              <a:t>Apps nativas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A90D9"/>
                </a:solidFill>
                <a:latin typeface="Calibri"/>
              </a:rPr>
              <a:t>Kotlin, Swift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377440"/>
            <a:ext cx="2377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Maximo rendimiento posible, pero un codigo distinto por plataforma.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VENTAJA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Todo es un widget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Un boton, un texto, un espacio en blanco, una animacion, la pantalla completa: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todo en Flutter es un widget. Esto significa que la interfaz se ve exactamente igual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en Android y en iOS, pixel por pixel — porque Flutter dibuja sus propios widgets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en vez de usar los componentes nativos de cada sistema operativo.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41148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A55"/>
                </a:solidFill>
                <a:latin typeface="Calibri"/>
              </a:rPr>
              <a:t>Ventaja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Consistencia visual total.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Un diseno se ve igual 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cualquier dispositivo.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Widgets reutilizables 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componibles entre 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606040"/>
            <a:ext cx="41148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27432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722"/>
                </a:solidFill>
                <a:latin typeface="Calibri"/>
              </a:rPr>
              <a:t>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La app no "se ve 100%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como una app Android" 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"100% como una app iOS"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de forma automatica —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Flutter ya lo compensa muy bien.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Flutter frente a las alternativas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3502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3502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Codigo unico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3502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Rendimiento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3502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722"/>
                </a:solidFill>
                <a:latin typeface="Calibri"/>
              </a:rPr>
              <a:t>Curva de
aprendizaje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8412480" cy="6583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Nativo (Kotlin/Swift)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0195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0195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Maximo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01952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Alta (2 lenguajes)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95728"/>
            <a:ext cx="8412480" cy="658368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Flutter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5603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5603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Casi nativo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6032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Media (1 lenguaje)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54096"/>
            <a:ext cx="8412480" cy="65836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1868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React 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1868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1868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Bueno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1868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Media (JavaScript)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12464"/>
            <a:ext cx="8412480" cy="658368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77056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Ionic / Cordova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877056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877056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Bajo (WebView)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877056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Baja (HTML/JS)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PENSAMIENTO CRITICO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B2F5B"/>
                </a:solidFill>
                <a:latin typeface="Calibri"/>
              </a:rPr>
              <a:t>Cuando Flutter NO es la mejor opcion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374151"/>
                </a:solidFill>
                <a:latin typeface="Calibri"/>
              </a:rPr>
              <a:t>Ningun framework es la solucion perfecta para todo. Ser honestos con esto es parte de ser buen desarrollador.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420624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28216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F5B"/>
                </a:solidFill>
                <a:latin typeface="Calibri"/>
              </a:rPr>
              <a:t>Apps con mucho codigo nativo especifico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94560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374151"/>
                </a:solidFill>
                <a:latin typeface="Calibri"/>
              </a:rPr>
              <a:t>Si la app depende fuertemente de sensores o APIs muy particulares de un solo sistema operativo.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600200"/>
            <a:ext cx="420624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60020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1728216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F5B"/>
                </a:solidFill>
                <a:latin typeface="Calibri"/>
              </a:rPr>
              <a:t>Videojuegos 3D de alto rendimiento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194560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374151"/>
                </a:solidFill>
                <a:latin typeface="Calibri"/>
              </a:rPr>
              <a:t>Para esto se usan motores especializados como Unity o Unreal Engine.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420624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82696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F5B"/>
                </a:solidFill>
                <a:latin typeface="Calibri"/>
              </a:rPr>
              <a:t>Apps que ya existen y funcionan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49040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374151"/>
                </a:solidFill>
                <a:latin typeface="Calibri"/>
              </a:rPr>
              <a:t>Reescribir una app nativa estable solo para "usar lo nuevo" rara vez se justifica.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154680"/>
            <a:ext cx="4206240" cy="1371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315468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2" y="3282696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2F5B"/>
                </a:solidFill>
                <a:latin typeface="Calibri"/>
              </a:rPr>
              <a:t>Equipos que ya dominan Kotlin o Swift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49040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374151"/>
                </a:solidFill>
                <a:latin typeface="Calibri"/>
              </a:rPr>
              <a:t>Si el equipo ya es experto en nativo, la curva de aprendizaje de Flutter puede no valer la pena a corto plazo.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EN EL MUNDO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Quien usa Flutter en produccion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20624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20624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99032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5623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C8D4E8"/>
                </a:solidFill>
                <a:latin typeface="Calibri"/>
              </a:rPr>
              <a:t>App de administracion de campanas publicitarias, reescrita completamente en Flutter.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234440"/>
            <a:ext cx="420624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234440"/>
            <a:ext cx="420624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399032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Alibaba (Xianyu)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185623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C8D4E8"/>
                </a:solidFill>
                <a:latin typeface="Calibri"/>
              </a:rPr>
              <a:t>Una de las primeras apps masivas construidas con Flutter, con cientos de millones de usuarios.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420624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420624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99232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45643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C8D4E8"/>
                </a:solidFill>
                <a:latin typeface="Calibri"/>
              </a:rPr>
              <a:t>La app "My BMW" usa Flutter para su interfaz en Android e 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834640"/>
            <a:ext cx="4206240" cy="1417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834640"/>
            <a:ext cx="420624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2999232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eBay Motors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345643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C8D4E8"/>
                </a:solidFill>
                <a:latin typeface="Calibri"/>
              </a:rPr>
              <a:t>Reconstruyo su app de compra y venta de vehiculos sobre Flutter.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A0AABB"/>
                </a:solidFill>
                <a:latin typeface="Calibri"/>
              </a:rPr>
              <a:t>Miles de apps mas en Play Store y App Store estan construidas con Flutter.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POR DEBAJO DEL CAPO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F5B"/>
                </a:solidFill>
                <a:latin typeface="Calibri"/>
              </a:rPr>
              <a:t>Arquitectura basica de Flutter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1B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Tu codigo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30759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Los widgets que tu escribes: pantallas, botones, logica de la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8412480" cy="74980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Framework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762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Libreria de widgets (Material, Cupertino), animaciones, gestos.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8412480" cy="749808"/>
          </a:xfrm>
          <a:prstGeom prst="rect">
            <a:avLst/>
          </a:prstGeom>
          <a:solidFill>
            <a:srgbClr val="0D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Motor (Engine)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4495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Escrito en C++. Dibuja graficos, maneja texto, entrada de usuario.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59"/>
            <a:ext cx="8412480" cy="7498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861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Sistema Operativo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1363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Android o iOS — Flutter les pide una superficie en blanco para dibujar.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722"/>
                </a:solidFill>
                <a:latin typeface="Calibri"/>
              </a:rPr>
              <a:t>EL CONCEPTO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B2F5B"/>
                </a:solidFill>
                <a:latin typeface="Calibri"/>
              </a:rPr>
              <a:t>El arbol de widgets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120640" cy="3611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" y="126187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6187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26187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9786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onsolas"/>
              </a:rPr>
              <a:t>main.dart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27048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>
                <a:solidFill>
                  <a:srgbClr val="F5A623"/>
                </a:solidFill>
                <a:latin typeface="Consolas"/>
              </a:rPr>
              <a:t>import</a:t>
            </a:r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  <a:r>
              <a:rPr sz="1030">
                <a:solidFill>
                  <a:srgbClr val="8BD47E"/>
                </a:solidFill>
                <a:latin typeface="Consolas"/>
              </a:rPr>
              <a:t>'package:flutter/material.dart'</a:t>
            </a:r>
            <a:r>
              <a:rPr sz="1030">
                <a:solidFill>
                  <a:srgbClr val="E4E4EF"/>
                </a:solidFill>
                <a:latin typeface="Consolas"/>
              </a:rPr>
              <a:t>;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30">
                <a:solidFill>
                  <a:srgbClr val="F5A623"/>
                </a:solidFill>
                <a:latin typeface="Consolas"/>
              </a:rPr>
              <a:t>void</a:t>
            </a:r>
            <a:r>
              <a:rPr sz="1030">
                <a:solidFill>
                  <a:srgbClr val="E4E4EF"/>
                </a:solidFill>
                <a:latin typeface="Consolas"/>
              </a:rPr>
              <a:t> main() =&gt; runApp(</a:t>
            </a:r>
            <a:r>
              <a:rPr sz="1030">
                <a:solidFill>
                  <a:srgbClr val="F5A623"/>
                </a:solidFill>
                <a:latin typeface="Consolas"/>
              </a:rPr>
              <a:t>const</a:t>
            </a:r>
            <a:r>
              <a:rPr sz="1030">
                <a:solidFill>
                  <a:srgbClr val="E4E4EF"/>
                </a:solidFill>
                <a:latin typeface="Consolas"/>
              </a:rPr>
              <a:t> MiApp());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30">
                <a:solidFill>
                  <a:srgbClr val="F5A623"/>
                </a:solidFill>
                <a:latin typeface="Consolas"/>
              </a:rPr>
              <a:t>class</a:t>
            </a:r>
            <a:r>
              <a:rPr sz="1030">
                <a:solidFill>
                  <a:srgbClr val="E4E4EF"/>
                </a:solidFill>
                <a:latin typeface="Consolas"/>
              </a:rPr>
              <a:t> MiApp </a:t>
            </a:r>
            <a:r>
              <a:rPr sz="1030">
                <a:solidFill>
                  <a:srgbClr val="F5A623"/>
                </a:solidFill>
                <a:latin typeface="Consolas"/>
              </a:rPr>
              <a:t>extends</a:t>
            </a:r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  <a:r>
              <a:rPr sz="1030">
                <a:solidFill>
                  <a:srgbClr val="C79BF5"/>
                </a:solidFill>
                <a:latin typeface="Consolas"/>
              </a:rPr>
              <a:t>StatelessWidget</a:t>
            </a:r>
            <a:r>
              <a:rPr sz="1030">
                <a:solidFill>
                  <a:srgbClr val="E4E4EF"/>
                </a:solidFill>
                <a:latin typeface="Consolas"/>
              </a:rPr>
              <a:t> {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</a:t>
            </a:r>
            <a:r>
              <a:rPr sz="1030">
                <a:solidFill>
                  <a:srgbClr val="F5A623"/>
                </a:solidFill>
                <a:latin typeface="Consolas"/>
              </a:rPr>
              <a:t>const</a:t>
            </a:r>
            <a:r>
              <a:rPr sz="1030">
                <a:solidFill>
                  <a:srgbClr val="E4E4EF"/>
                </a:solidFill>
                <a:latin typeface="Consolas"/>
              </a:rPr>
              <a:t> MiApp({super.key});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</a:t>
            </a:r>
            <a:r>
              <a:rPr sz="1030">
                <a:solidFill>
                  <a:srgbClr val="C79BF5"/>
                </a:solidFill>
                <a:latin typeface="Consolas"/>
              </a:rPr>
              <a:t>Widget</a:t>
            </a:r>
            <a:r>
              <a:rPr sz="1030">
                <a:solidFill>
                  <a:srgbClr val="E4E4EF"/>
                </a:solidFill>
                <a:latin typeface="Consolas"/>
              </a:rPr>
              <a:t> </a:t>
            </a:r>
            <a:r>
              <a:rPr sz="1030">
                <a:solidFill>
                  <a:srgbClr val="F5A623"/>
                </a:solidFill>
                <a:latin typeface="Consolas"/>
              </a:rPr>
              <a:t>build</a:t>
            </a:r>
            <a:r>
              <a:rPr sz="1030">
                <a:solidFill>
                  <a:srgbClr val="E4E4EF"/>
                </a:solidFill>
                <a:latin typeface="Consolas"/>
              </a:rPr>
              <a:t>(</a:t>
            </a:r>
            <a:r>
              <a:rPr sz="1030">
                <a:solidFill>
                  <a:srgbClr val="C79BF5"/>
                </a:solidFill>
                <a:latin typeface="Consolas"/>
              </a:rPr>
              <a:t>BuildContext</a:t>
            </a:r>
            <a:r>
              <a:rPr sz="1030">
                <a:solidFill>
                  <a:srgbClr val="E4E4EF"/>
                </a:solidFill>
                <a:latin typeface="Consolas"/>
              </a:rPr>
              <a:t> context) {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  </a:t>
            </a:r>
            <a:r>
              <a:rPr sz="1030">
                <a:solidFill>
                  <a:srgbClr val="F5A623"/>
                </a:solidFill>
                <a:latin typeface="Consolas"/>
              </a:rPr>
              <a:t>return</a:t>
            </a:r>
            <a:r>
              <a:rPr sz="1030">
                <a:solidFill>
                  <a:srgbClr val="E4E4EF"/>
                </a:solidFill>
                <a:latin typeface="Consolas"/>
              </a:rPr>
              <a:t> MaterialApp(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    home: Scaffold(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      appBar: AppBar(title: Text(</a:t>
            </a:r>
            <a:r>
              <a:rPr sz="1030">
                <a:solidFill>
                  <a:srgbClr val="8BD47E"/>
                </a:solidFill>
                <a:latin typeface="Consolas"/>
              </a:rPr>
              <a:t>'Hola Flutter'</a:t>
            </a:r>
            <a:r>
              <a:rPr sz="1030">
                <a:solidFill>
                  <a:srgbClr val="E4E4EF"/>
                </a:solidFill>
                <a:latin typeface="Consolas"/>
              </a:rPr>
              <a:t>)),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      body: Center(child: Text(</a:t>
            </a:r>
            <a:r>
              <a:rPr sz="1030">
                <a:solidFill>
                  <a:srgbClr val="8BD47E"/>
                </a:solidFill>
                <a:latin typeface="Consolas"/>
              </a:rPr>
              <a:t>'Bienvenido!'</a:t>
            </a:r>
            <a:r>
              <a:rPr sz="1030">
                <a:solidFill>
                  <a:srgbClr val="E4E4EF"/>
                </a:solidFill>
                <a:latin typeface="Consolas"/>
              </a:rPr>
              <a:t>)),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    ),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  );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  }</a:t>
            </a:r>
          </a:p>
          <a:p>
            <a:pPr algn="l"/>
            <a:r>
              <a:rPr sz="1030">
                <a:solidFill>
                  <a:srgbClr val="E4E4EF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188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F5B"/>
                </a:solidFill>
                <a:latin typeface="Calibri"/>
              </a:rPr>
              <a:t>Cada widget contiene a otro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69164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MaterialApp envuelve toda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la app.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Scaffold da la estructura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basica de una pantalla.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AppBar y Center son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widgets dentro de Scaffold.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Text es el widget mas</a:t>
            </a:r>
          </a:p>
          <a:p>
            <a:pPr algn="l">
              <a:spcAft>
                <a:spcPts val="200"/>
              </a:spcAft>
            </a:pPr>
            <a:r>
              <a:rPr sz="1030" b="0">
                <a:solidFill>
                  <a:srgbClr val="374151"/>
                </a:solidFill>
                <a:latin typeface="Calibri"/>
              </a:rPr>
              <a:t>simple: solo muestra texto.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182880"/>
            <a:ext cx="5029200" cy="5029200"/>
          </a:xfrm>
          <a:prstGeom prst="ellipse">
            <a:avLst/>
          </a:prstGeom>
          <a:solidFill>
            <a:srgbClr val="14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1737360"/>
            <a:ext cx="2743200" cy="2743200"/>
          </a:xfrm>
          <a:prstGeom prst="ellipse">
            <a:avLst/>
          </a:prstGeom>
          <a:solidFill>
            <a:srgbClr val="213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Manos a la obra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4E8"/>
                </a:solidFill>
                <a:latin typeface="Calibri"/>
              </a:rPr>
              <a:t>La proxima clase creamos tu primer</a:t>
            </a:r>
          </a:p>
          <a:p>
            <a:pPr algn="l"/>
            <a:r>
              <a:rPr sz="1400" b="0">
                <a:solidFill>
                  <a:srgbClr val="C8D4E8"/>
                </a:solidFill>
                <a:latin typeface="Calibri"/>
              </a:rPr>
              <a:t>proyecto Flutter y lo corremos en</a:t>
            </a:r>
          </a:p>
          <a:p>
            <a:pPr algn="l"/>
            <a:r>
              <a:rPr sz="1400" b="0">
                <a:solidFill>
                  <a:srgbClr val="C8D4E8"/>
                </a:solidFill>
                <a:latin typeface="Calibri"/>
              </a:rPr>
              <a:t>el emulador. Trae tu entorno listo.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4480560" cy="8229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Antes de la proxima clase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Confirma que flutter doctor no marca errores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juanduque-ipb.github.io/et0126-dispositivos-moviles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9"/>
                </a:solidFill>
                <a:latin typeface="Calibri"/>
              </a:rPr>
              <a:t>I.U. Pascual Bravo · ET0126 · Juan Duque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