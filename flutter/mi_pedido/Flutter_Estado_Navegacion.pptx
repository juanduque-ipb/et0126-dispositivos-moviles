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el propósito: explicar estado y navegación antes de memorizar métodos. La ilustración es de apoyo; las secuencias técnicas precisas se muestran con diagramas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Pide al grupo anticipar dónde aparece cada idea: piezas visuales, dato que cambia y pantalla nueva.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 el escenario. Pregunta qué debería quedar al regresar si el usuario cancela, confirma o usa la flecha de retroceso.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ilustración identifiquen imagen, texto, botones y agrupaciones. La pantalla entera también se compone de widgets.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 las conexiones con el dedo. Scaffold contiene appBar y body. Dentro del body, Column puede organizar Text y botones. BuildContext señala ubicación en el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unos segundos para observar. Diferenciar el dato cantidad del widget Text que lo representa.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estado puede ser una cantidad en memoria, una selección, si un menú está abierto o si carga información. No necesariamente es una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Vota pulgar arriba/abajo. Cantidad, visibilidad y filtro son estados comunes. Un nombre recibido puede cambiar si el padre entrega otra entrada, sin que el hijo sea dueño del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izquierda a derecha. La salida se describe con las entradas actuales. Stateless puede contener botones, callbacks y navegación; su nombre habla de propiedad del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instancia no tiene que guardar el nombre. Al llegar una entrada nueva del padre, la nueva descripción puede mostrar otro saludo.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Analogía: la ficha describe qué componente se pidió; la libreta State recuerda el valor actual. StatefulWidget también es inmutable. State conserva datos mientras la identidad se mantenga.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parejas: saludo y resumen solo de lectura pueden ser Stateless; contador con memoria propia requiere State; botón puede ser Stateless y avisar al padre.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Precisión: el callback que recibe setState es síncrono. La mutación ocurre allí; setState marca este State para reconstruirse en el siguiente frame apropiado. No significa reconstruir toda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valor puede mutar; setState no es la mutación misma. Sin aviso, no hay garantía de que la vista muestre el dato nuevo hasta otro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variable local declarada dentro de build puede reinicializarse. State persiste ante rebuild normal. Si el widget desaparece o cambia identidad, State puede descartarse.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Seleccionamos solo tres métodos. initState una vez por objeto State; build puede repetirse; dispose limpia controllers y suscripciones.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la ilustración y la pila editable. Cada ruta representa pantalla o flujo; al agregar una nueva, la anterior suele permanecer debajo.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 tarjetas físicas. Lee la pila desde abajo: Pedido primero, Resumen después. pop retira solo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Explica: usuario toca botón; se ejecuta push con una Route; Navigator la pone arriba; Flutter construye el widget destino; Resumen queda visible y Pedido sigue debajo.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resumen recibe una fotografía de los valores mediante parámetros del constructor. Un cambio posterior en origen no sincroniza automáticamente este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await pausa esa función hasta que se cierre la ruta; no congela la app. pop quita resumen y completa el Future. La pantalla de pedido retoma su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true es convención para confirmar; false para cancelar; null suele recibirse si pop ocurre sin resultado. La pantalla previa solo muestra éxito en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en voz alta: aumentar y setState; push con producto y cantidad; pop true; Future termina; actualizar mensaje y resetear. Al codificar comprobar mounted después de await.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resumen solo recibe los datos. false cierra la ruta, pero no activa la lógica de confirmación; pedido sigue teniendo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 y recoge predicciones antes de contestar: se elimina Resumen; Pedido queda visible; true completa Future; la app puede mostrar éxito y resetear.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Pide que expliquen cada corrección: stateless puede reconstruirse; botón puede ser stateless; setState avisa y el callback cambia; push agrega y pop retira.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escribir, que ubiquen quién posee cantidad y cómo regresa la decisión del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que el callback es síncrono. build vuelve a describir la vista con la nueva variable. El botón puede ser un widget separado y recibir callback.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completa cuando se quita la ruta. await obtiene true/false/null. Antes de setState después de await, comprobar mounted.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parejas: primero dibujar el flujo, luego implementar. total deriva de cantidad por precio; enviar producto, cantidad y precio a resumen; volver con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 de salida oral: completa “setState…”, “push…”, “pop…”, “los datos van por…”, “la respuesta vuelve por…”.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enlaces en la plataforma. Primero dominar push/pop; luego profundizar Router o paquetes de navegación.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6656" y="566928"/>
            <a:ext cx="1874519" cy="365760"/>
          </a:xfrm>
          <a:prstGeom prst="round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630936"/>
            <a:ext cx="1700784" cy="210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CLASE MAGISTRAL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Flutter: estado</a:t>
            </a:r>
          </a:p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y navegación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27248"/>
            <a:ext cx="52578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D8E2EF"/>
                </a:solidFill>
                <a:latin typeface="Aptos"/>
              </a:defRPr>
            </a:pPr>
            <a:r>
              <a:t>Primero entendemos qué pasa.</a:t>
            </a:r>
          </a:p>
          <a:p>
            <a:pPr>
              <a:spcAft>
                <a:spcPts val="500"/>
              </a:spcAft>
              <a:defRPr sz="2100" b="0">
                <a:solidFill>
                  <a:srgbClr val="D8E2EF"/>
                </a:solidFill>
                <a:latin typeface="Aptos"/>
              </a:defRPr>
            </a:pPr>
            <a:r>
              <a:t>Al final, lo llevamos al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828032"/>
            <a:ext cx="3977639" cy="585216"/>
          </a:xfrm>
          <a:prstGeom prst="roundRect">
            <a:avLst/>
          </a:prstGeom>
          <a:solidFill>
            <a:srgbClr val="263852"/>
          </a:solidFill>
          <a:ln w="1016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928616"/>
            <a:ext cx="3703320" cy="3566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BCEAE4"/>
                </a:solidFill>
                <a:latin typeface="Aptos"/>
              </a:defRPr>
            </a:pPr>
            <a:r>
              <a:t>Stateless · Stateful · Navigator</a:t>
            </a:r>
          </a:p>
        </p:txBody>
      </p:sp>
      <p:pic>
        <p:nvPicPr>
          <p:cNvPr id="8" name="Picture 7" descr="exec-082c220a-f746-4b65-9778-b07f5fa4e8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594360"/>
            <a:ext cx="612648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63640"/>
            <a:ext cx="5486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7C3D5"/>
                </a:solidFill>
                <a:latin typeface="Aptos"/>
              </a:defRPr>
            </a:pPr>
            <a:r>
              <a:t>90 MINUTOS · PREDICE, DIBUJA, EXPLICA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La ruta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Una app de pedidos nos permite entender memoria y movimiento.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2034539" y="255117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453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ARMAR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Widgets describen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la interfaz.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58184" y="3717036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56148" y="255117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6148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297180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1416" y="297180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08152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RECORDAR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56616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State conserva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el dato actual.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79792" y="3717036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7756" y="255117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7756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297180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297180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08152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VIAJAR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56616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Navigator cambia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la ruta visible.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idea explica que la cantidad pase de 1 a 2?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El caso de hoy: arma tu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Elegir cantidad, revisar resumen y confirmar o cancelar.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2034539" y="250545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4539" y="251460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2608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2608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3580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2044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Hamburguesa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Cantidad: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58184" y="3671316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56148" y="250545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6148" y="251460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292608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1416" y="292608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03580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52044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Revisar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Confirmar / cancelar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79792" y="3671316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7756" y="250545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7756" y="251460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2926080"/>
            <a:ext cx="29718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292608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03580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520440"/>
            <a:ext cx="26243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Confirmado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o sin cambios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Si cancela, ¿qué debería mostrar la pantalla del pedido?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Una interfaz se arma con piezas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Cada pieza visual puede describirse con un widget.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9" name="Picture 8" descr="exec-082c220a-f746-4b65-9778-b07f5fa4e8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608076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12280" y="2331720"/>
            <a:ext cx="1965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2331720"/>
            <a:ext cx="73152" cy="10515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441448"/>
            <a:ext cx="164591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IMAGEN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926079"/>
            <a:ext cx="161848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Producto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331720"/>
            <a:ext cx="23317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2331720"/>
            <a:ext cx="73152" cy="105156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441448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26079"/>
            <a:ext cx="198424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Nombre y precio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657600"/>
            <a:ext cx="19659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3657600"/>
            <a:ext cx="73152" cy="105156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767328"/>
            <a:ext cx="164591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BOTÓN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251960"/>
            <a:ext cx="161848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Acción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657600"/>
            <a:ext cx="23317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3657600"/>
            <a:ext cx="73152" cy="10515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767328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CONTENEDOR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251960"/>
            <a:ext cx="198424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Agrupa piezas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¿Un botón conoce por sí solo el estado de toda la aplicación?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El árbol: quién contiene a quién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Las piezas se organizan como ramas padre e hijo.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9" name="Picture 8" descr="exec-7ea5b576-8b1b-4a84-8258-a348066566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2926080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66360" y="2286000"/>
            <a:ext cx="27432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2286000"/>
            <a:ext cx="73152" cy="658368"/>
          </a:xfrm>
          <a:prstGeom prst="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3957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14A"/>
                </a:solidFill>
                <a:latin typeface="Aptos"/>
              </a:defRPr>
            </a:pPr>
            <a:r>
              <a:t>MaterialApp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3337560"/>
            <a:ext cx="27432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3337560"/>
            <a:ext cx="73152" cy="65836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344728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14A"/>
                </a:solidFill>
                <a:latin typeface="Aptos"/>
              </a:defRPr>
            </a:pPr>
            <a:r>
              <a:t>Scaffold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2971800"/>
            <a:ext cx="0" cy="320040"/>
          </a:xfrm>
          <a:prstGeom prst="line">
            <a:avLst/>
          </a:prstGeom>
          <a:ln w="29209">
            <a:solidFill>
              <a:srgbClr val="D6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86200" y="4572000"/>
            <a:ext cx="2331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86200" y="4572000"/>
            <a:ext cx="73152" cy="658368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4681728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AppBar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572000"/>
            <a:ext cx="2331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4572000"/>
            <a:ext cx="73152" cy="658368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81728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Body → Column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572000"/>
            <a:ext cx="25146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4572000"/>
            <a:ext cx="73152" cy="65836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4681728"/>
            <a:ext cx="21945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14A"/>
                </a:solidFill>
                <a:latin typeface="Aptos"/>
              </a:defRPr>
            </a:pPr>
            <a:r>
              <a:t>Text · Button · Icon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074920" y="4041648"/>
            <a:ext cx="548640" cy="457200"/>
          </a:xfrm>
          <a:prstGeom prst="line">
            <a:avLst/>
          </a:prstGeom>
          <a:ln w="29209">
            <a:solidFill>
              <a:srgbClr val="18A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69480" y="4041648"/>
            <a:ext cx="228599" cy="457200"/>
          </a:xfrm>
          <a:prstGeom prst="line">
            <a:avLst/>
          </a:prstGeom>
          <a:ln w="29209">
            <a:solidFill>
              <a:srgbClr val="18A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8823960" y="4814316"/>
            <a:ext cx="137160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¿Cuáles podrían estar dentro del body?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Mismo diseño, nuevo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cantidad cambia; la interfaz refleja el dato actual.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333756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34640"/>
            <a:ext cx="73152" cy="1737360"/>
          </a:xfrm>
          <a:prstGeom prst="rect">
            <a:avLst/>
          </a:prstGeom>
          <a:solidFill>
            <a:srgbClr val="62718A"/>
          </a:solidFill>
          <a:ln w="10160">
            <a:solidFill>
              <a:srgbClr val="627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314A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299008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62718A"/>
                </a:solidFill>
                <a:latin typeface="Aptos"/>
              </a:defRPr>
            </a:pPr>
            <a:r>
              <a:t>Cantidad</a:t>
            </a:r>
          </a:p>
          <a:p>
            <a:pPr>
              <a:spcAft>
                <a:spcPts val="500"/>
              </a:spcAft>
              <a:defRPr sz="2400" b="0">
                <a:solidFill>
                  <a:srgbClr val="62718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72000" y="3625596"/>
            <a:ext cx="1188719" cy="155448"/>
          </a:xfrm>
          <a:prstGeom prst="rightArrow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89320" y="2834640"/>
            <a:ext cx="3337560" cy="1737360"/>
          </a:xfrm>
          <a:prstGeom prst="roundRect">
            <a:avLst/>
          </a:prstGeom>
          <a:solidFill>
            <a:srgbClr val="E3F4F0"/>
          </a:solidFill>
          <a:ln w="10160">
            <a:solidFill>
              <a:srgbClr val="E3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834640"/>
            <a:ext cx="73152" cy="17373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944368"/>
            <a:ext cx="3017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314A"/>
                </a:solidFill>
                <a:latin typeface="Aptos"/>
              </a:defRPr>
            </a:pPr>
            <a:r>
              <a:t>DESPUÉS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29000"/>
            <a:ext cx="299008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62718A"/>
                </a:solidFill>
                <a:latin typeface="Aptos"/>
              </a:defRPr>
            </a:pPr>
            <a:r>
              <a:t>Cantidad</a:t>
            </a:r>
          </a:p>
          <a:p>
            <a:pPr>
              <a:spcAft>
                <a:spcPts val="500"/>
              </a:spcAft>
              <a:defRPr sz="2400" b="0">
                <a:solidFill>
                  <a:srgbClr val="62718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108960"/>
            <a:ext cx="164592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7243B"/>
                </a:solidFill>
                <a:latin typeface="Aptos"/>
              </a:defRPr>
            </a:pPr>
            <a:r>
              <a:t>¿Qué</a:t>
            </a:r>
          </a:p>
          <a:p>
            <a:pPr>
              <a:spcAft>
                <a:spcPts val="500"/>
              </a:spcAft>
              <a:defRPr sz="2300" b="1">
                <a:solidFill>
                  <a:srgbClr val="17243B"/>
                </a:solidFill>
                <a:latin typeface="Aptos"/>
              </a:defRPr>
            </a:pPr>
            <a:r>
              <a:t>cambió?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¿Cambió el dato, el diseño o las dos cosas?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Estado: el dato que la interfaz recuerda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Puede ser temporal y local a una parte de la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20345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45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9718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CANTIDAD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6243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1 → 2 →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58184" y="3717035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56148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6148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3017520"/>
            <a:ext cx="29718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1416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12724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SELECCIÓN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611879"/>
            <a:ext cx="26243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No → favorito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79792" y="3717035"/>
            <a:ext cx="66751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77756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7756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017520"/>
            <a:ext cx="29718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127248"/>
            <a:ext cx="2651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CARGA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611879"/>
            <a:ext cx="26243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Esperando → listo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dato cambia en una pantalla de inicio de sesión?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Vota: ¿esto puede ser estado?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Piensa en algo que puede cambiar mientras se usa la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102412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8006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A · Cantidad del carrito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68880"/>
            <a:ext cx="5120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468880"/>
            <a:ext cx="73152" cy="1024128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78608"/>
            <a:ext cx="48006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B · Contraseña visible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30752"/>
            <a:ext cx="5120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30752"/>
            <a:ext cx="73152" cy="1024128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48006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C · Filtro seleccionado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30752"/>
            <a:ext cx="5120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30752"/>
            <a:ext cx="73152" cy="102412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48006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D · Nombre recibido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Justifica también quién es dueño del dato.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Stateless: recibe → describe →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No administra estado mutable propio.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5117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Entrega “Ana”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6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5117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97180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WIDGET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Describe un Text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 esa entrada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6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5117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297180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Hola, 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¿En qué paso guarda el widget un cambio propio?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Stateless también puede verse distinto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Si recibe datos nuevos, puede reconstruirse.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5117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PADRE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Entrada: Ana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6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5117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97180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MISMO WIDGET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Recibe Luis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6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5117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297180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Hola, Luis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¿Cambió la salida? Sí. ¿Guardó el nombre en su State?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Stateful separa dos responsabilidades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Widget = configuración. State = memoria mutable.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663440" cy="2011680"/>
          </a:xfrm>
          <a:prstGeom prst="roundRect">
            <a:avLst/>
          </a:prstGeom>
          <a:solidFill>
            <a:srgbClr val="EEECFA"/>
          </a:solidFill>
          <a:ln w="10160">
            <a:solidFill>
              <a:srgbClr val="EE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73152" cy="20116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07208"/>
            <a:ext cx="4343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314A"/>
                </a:solidFill>
                <a:latin typeface="Aptos"/>
              </a:defRPr>
            </a:pPr>
            <a:r>
              <a:t>WIDGET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4315968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2718A"/>
                </a:solidFill>
                <a:latin typeface="Aptos"/>
              </a:defRPr>
            </a:pPr>
            <a:r>
              <a:t>Configuración</a:t>
            </a:r>
          </a:p>
          <a:p>
            <a:pPr>
              <a:spcAft>
                <a:spcPts val="500"/>
              </a:spcAft>
              <a:defRPr sz="1900" b="0">
                <a:solidFill>
                  <a:srgbClr val="62718A"/>
                </a:solidFill>
                <a:latin typeface="Aptos"/>
              </a:defRPr>
            </a:pPr>
            <a:r>
              <a:t>“Soy el selector de cantidad”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23560" y="3579876"/>
            <a:ext cx="868679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2697480"/>
            <a:ext cx="4663440" cy="2011680"/>
          </a:xfrm>
          <a:prstGeom prst="roundRect">
            <a:avLst/>
          </a:prstGeom>
          <a:solidFill>
            <a:srgbClr val="E3F4F0"/>
          </a:solidFill>
          <a:ln w="10160">
            <a:solidFill>
              <a:srgbClr val="E3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2697480"/>
            <a:ext cx="73152" cy="20116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807208"/>
            <a:ext cx="4343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20314A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91840"/>
            <a:ext cx="4315968" cy="13533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62718A"/>
                </a:solidFill>
                <a:latin typeface="Aptos"/>
              </a:defRPr>
            </a:pPr>
            <a:r>
              <a:t>Dato actual</a:t>
            </a:r>
          </a:p>
          <a:p>
            <a:pPr>
              <a:spcAft>
                <a:spcPts val="500"/>
              </a:spcAft>
              <a:defRPr sz="2200" b="0">
                <a:solidFill>
                  <a:srgbClr val="62718A"/>
                </a:solidFill>
                <a:latin typeface="Aptos"/>
              </a:defRPr>
            </a:pPr>
            <a:r>
              <a:t>Cantidad: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¿Dónde vive el número que aumenta?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Elige según quién guarda el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interacción por sí sola no decide el tipo de widget.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95728"/>
            <a:ext cx="73152" cy="102412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47548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A · Saludo que recibe un nombre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95728"/>
            <a:ext cx="5074920" cy="1024128"/>
          </a:xfrm>
          <a:prstGeom prst="roundRect">
            <a:avLst/>
          </a:prstGeom>
          <a:solidFill>
            <a:srgbClr val="FCEAE6"/>
          </a:solidFill>
          <a:ln w="10160">
            <a:solidFill>
              <a:srgbClr val="FC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395728"/>
            <a:ext cx="73152" cy="1024128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05456"/>
            <a:ext cx="47548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B · Contador que recuerda su número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75887"/>
            <a:ext cx="5074920" cy="1024128"/>
          </a:xfrm>
          <a:prstGeom prst="roundRect">
            <a:avLst/>
          </a:prstGeom>
          <a:solidFill>
            <a:srgbClr val="EEECFA"/>
          </a:solidFill>
          <a:ln w="10160">
            <a:solidFill>
              <a:srgbClr val="EE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75887"/>
            <a:ext cx="73152" cy="1024128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85615"/>
            <a:ext cx="47548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C · Resumen que muestra 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75887"/>
            <a:ext cx="507492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75887"/>
            <a:ext cx="73152" cy="1024128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5"/>
            <a:ext cx="47548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D · Botón que avisa al padre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Clasifica cada ejemplo y justifica en una frase.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El flujo de setState,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Acción → cambia el dato → aviso → reconstrucción →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1257299" y="23682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7299" y="23774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" y="2788920"/>
            <a:ext cx="1874519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788920"/>
            <a:ext cx="73152" cy="182880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898648"/>
            <a:ext cx="15544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PULSAR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83279"/>
            <a:ext cx="1527048" cy="11704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Usuario toca +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32303" y="3625596"/>
            <a:ext cx="37490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89019" y="23682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9019" y="23774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7" y="2788920"/>
            <a:ext cx="1874519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52927" y="2788920"/>
            <a:ext cx="73152" cy="182880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2898648"/>
            <a:ext cx="15544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CAMBIAR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383279"/>
            <a:ext cx="1527048" cy="11704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cantidad 1 → 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64024" y="3625596"/>
            <a:ext cx="37490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0740" y="23682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0740" y="23774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648" y="2788920"/>
            <a:ext cx="1874519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84648" y="2788920"/>
            <a:ext cx="73152" cy="182880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7528" y="2898648"/>
            <a:ext cx="15544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AVISAR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3383279"/>
            <a:ext cx="1527048" cy="11704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setState marca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el State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95744" y="3625596"/>
            <a:ext cx="37490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52459" y="23682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2459" y="23774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16367" y="2788920"/>
            <a:ext cx="1874519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16367" y="2788920"/>
            <a:ext cx="73152" cy="182880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7" y="2898648"/>
            <a:ext cx="15544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RELEER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7" y="3383279"/>
            <a:ext cx="1527048" cy="11704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build usa el 2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427463" y="3625596"/>
            <a:ext cx="37490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84180" y="23682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84180" y="23774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48088" y="2788920"/>
            <a:ext cx="1874519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8088" y="2788920"/>
            <a:ext cx="73152" cy="182880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30967" y="2898648"/>
            <a:ext cx="15544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MOSTRAR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3383279"/>
            <a:ext cx="1527048" cy="11704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Text enseña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¿En cuál paso cambia el valor guardado?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Si falta el aviso, memoria y vista pueden diferir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El dato cambió, pero no se solicitó reconstruir la interfaz.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3840480" cy="1737360"/>
          </a:xfrm>
          <a:prstGeom prst="roundRect">
            <a:avLst/>
          </a:prstGeom>
          <a:solidFill>
            <a:srgbClr val="FCEAE6"/>
          </a:solidFill>
          <a:ln w="10160">
            <a:solidFill>
              <a:srgbClr val="FC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34640"/>
            <a:ext cx="73152" cy="173736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35204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0314A"/>
                </a:solidFill>
                <a:latin typeface="Aptos"/>
              </a:defRPr>
            </a:pPr>
            <a:r>
              <a:t>MEMORIA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349300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62718A"/>
                </a:solidFill>
                <a:latin typeface="Aptos"/>
              </a:defRPr>
            </a:pPr>
            <a:r>
              <a:t>Cantidad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246120"/>
            <a:ext cx="13716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3800" b="1">
                <a:solidFill>
                  <a:srgbClr val="F07967"/>
                </a:solidFill>
                <a:latin typeface="Aptos"/>
              </a:defRPr>
            </a:pPr>
            <a:r>
              <a:t>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834640"/>
            <a:ext cx="4023360" cy="1737360"/>
          </a:xfrm>
          <a:prstGeom prst="roundRect">
            <a:avLst/>
          </a:prstGeom>
          <a:solidFill>
            <a:srgbClr val="EEECFA"/>
          </a:solidFill>
          <a:ln w="10160">
            <a:solidFill>
              <a:srgbClr val="EE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834640"/>
            <a:ext cx="73152" cy="173736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44368"/>
            <a:ext cx="3703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0314A"/>
                </a:solidFill>
                <a:latin typeface="Aptos"/>
              </a:defRPr>
            </a:pPr>
            <a:r>
              <a:t>VISTA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29000"/>
            <a:ext cx="367588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62718A"/>
                </a:solidFill>
                <a:latin typeface="Aptos"/>
              </a:defRPr>
            </a:pPr>
            <a:r>
              <a:t>Todavía muestra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faltó entre cambiar el dato y ver el nuevo valor?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Reconstruir no significa olvidar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State conserva su dato entre builds si mantiene identidad.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Conserva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Lee el 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VISTA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Muestra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pasa si volvemos a asignar 1 dentro de cada build?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La vida de State en tres momentos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Preparar → construir muchas veces → liberar recursos.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INICIALIZAR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initState()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CONSTRUIR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build()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puede repetirse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LIBERAR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dispose()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¿Dónde evitarías empezar una petición que se repetiría en cada build?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Navigator mantiene una pila de rutas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ruta de arriba es la que vemos.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9" name="Picture 8" descr="exec-f253b8b0-041c-457a-b2b3-1875b29a44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493776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2487168"/>
            <a:ext cx="2423160" cy="1060704"/>
          </a:xfrm>
          <a:prstGeom prst="roundRect">
            <a:avLst/>
          </a:prstGeom>
          <a:solidFill>
            <a:srgbClr val="FCEAE6"/>
          </a:solidFill>
          <a:ln w="10160">
            <a:solidFill>
              <a:srgbClr val="FC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87168"/>
            <a:ext cx="73152" cy="1060704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96896"/>
            <a:ext cx="21031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14A"/>
                </a:solidFill>
                <a:latin typeface="Aptos"/>
              </a:defRPr>
            </a:pPr>
            <a:r>
              <a:t>ARRIBA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207568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A"/>
                </a:solidFill>
                <a:latin typeface="Aptos"/>
              </a:defRPr>
            </a:pPr>
            <a:r>
              <a:t>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2423160" cy="1060704"/>
          </a:xfrm>
          <a:prstGeom prst="roundRect">
            <a:avLst/>
          </a:prstGeom>
          <a:solidFill>
            <a:srgbClr val="EEECFA"/>
          </a:solidFill>
          <a:ln w="10160">
            <a:solidFill>
              <a:srgbClr val="EE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840480"/>
            <a:ext cx="73152" cy="1060704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8"/>
            <a:ext cx="21031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14A"/>
                </a:solidFill>
                <a:latin typeface="Aptos"/>
              </a:defRPr>
            </a:pPr>
            <a:r>
              <a:t>DEBAJO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2075688" cy="40233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718A"/>
                </a:solidFill>
                <a:latin typeface="Aptos"/>
              </a:defRPr>
            </a:pPr>
            <a:r>
              <a:t>Anterior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37560" y="2939796"/>
            <a:ext cx="2057400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Si retiramos la ruta visible, ¿cuál aparece?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push agrega · pop retira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pantalla anterior permanece en la pila.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5117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INICIO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[ Pedido ]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6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5117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97180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[ Pedido ]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[ Resumen ]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6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5117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297180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[ Pedido 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Al hacer pop desde Resumen, ¿qué pantalla queda arriba?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Flujo A: abrir el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Tocar → agregar ruta → construir pantalla → mostrarla.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Oval 8"/>
          <p:cNvSpPr/>
          <p:nvPr/>
        </p:nvSpPr>
        <p:spPr>
          <a:xfrm>
            <a:off x="1623060" y="2432304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3060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52928"/>
            <a:ext cx="23317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852928"/>
            <a:ext cx="73152" cy="169164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TOCAR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47288"/>
            <a:ext cx="1984248" cy="10332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Ver resumen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26663" y="3621024"/>
            <a:ext cx="48463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1707" y="2432304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707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5" y="2852928"/>
            <a:ext cx="23317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57015" y="2852928"/>
            <a:ext cx="73152" cy="169164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3447288"/>
            <a:ext cx="1984248" cy="10332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Agregar ruta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25312" y="3621024"/>
            <a:ext cx="48463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0355" y="2432304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0355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2852928"/>
            <a:ext cx="23317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5664" y="2852928"/>
            <a:ext cx="73152" cy="169164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3447288"/>
            <a:ext cx="1984248" cy="10332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Construir destino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23959" y="3621024"/>
            <a:ext cx="484631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9004" y="2432304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9004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54312" y="2852928"/>
            <a:ext cx="23317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54312" y="2852928"/>
            <a:ext cx="73152" cy="169164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37192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MOSTRAR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3447288"/>
            <a:ext cx="1984248" cy="10332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Resumen arriba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828032"/>
            <a:ext cx="8229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62718A"/>
                </a:solidFill>
                <a:latin typeface="Aptos"/>
              </a:defRPr>
            </a:pPr>
            <a:r>
              <a:t>La ruta anterior sigue debajo:  [ Pedido  →  Resumen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pantalla queda debajo del resumen?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Flujo B: los datos viajan al abrir la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Origen → constructor → destino.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ORIGEN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Producto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Cantidad: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Recibe valores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DESTINO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Muestra resumen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82896"/>
            <a:ext cx="9326880" cy="3931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62718A"/>
                </a:solidFill>
                <a:latin typeface="Aptos"/>
              </a:defRPr>
            </a:pPr>
            <a:r>
              <a:t>La pantalla Pedido conserva la cantidad: es su dato.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¿El resumen necesita State para mostrar cantidad recibida?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Flujo C: pop devuelve una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ruta se cierra y push entrega el resultado esperado.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Oval 8"/>
          <p:cNvSpPr/>
          <p:nvPr/>
        </p:nvSpPr>
        <p:spPr>
          <a:xfrm>
            <a:off x="1623060" y="2432304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3060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52928"/>
            <a:ext cx="23317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852928"/>
            <a:ext cx="73152" cy="173736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47288"/>
            <a:ext cx="198424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Confirma true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26663" y="3643884"/>
            <a:ext cx="48463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1707" y="2432304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707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5" y="2852928"/>
            <a:ext cx="23317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57015" y="2852928"/>
            <a:ext cx="73152" cy="173736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3447288"/>
            <a:ext cx="198424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Quita la ruta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25312" y="3643884"/>
            <a:ext cx="484632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20355" y="2432304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0355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2852928"/>
            <a:ext cx="23317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5664" y="2852928"/>
            <a:ext cx="73152" cy="17373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3447288"/>
            <a:ext cx="198424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Completa true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23959" y="3643884"/>
            <a:ext cx="484631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9004" y="2432304"/>
            <a:ext cx="402336" cy="402336"/>
          </a:xfrm>
          <a:prstGeom prst="ellipse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9004" y="2441448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54312" y="2852928"/>
            <a:ext cx="23317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54312" y="2852928"/>
            <a:ext cx="73152" cy="1737360"/>
          </a:xfrm>
          <a:prstGeom prst="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37192" y="2962656"/>
            <a:ext cx="2011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PEDIDO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3447288"/>
            <a:ext cx="1984248" cy="1078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Recibe decisión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se quitó de la pila?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Confirmar, cancelar o volver con la flecha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Cada camino comunica un resultado distinto.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33472"/>
            <a:ext cx="3520440" cy="2057400"/>
          </a:xfrm>
          <a:prstGeom prst="roundRect">
            <a:avLst/>
          </a:prstGeom>
          <a:solidFill>
            <a:srgbClr val="E3F4F0"/>
          </a:solidFill>
          <a:ln w="10160">
            <a:solidFill>
              <a:srgbClr val="E3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73152" cy="205740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314A"/>
                </a:solidFill>
                <a:latin typeface="Aptos"/>
              </a:defRPr>
            </a:pPr>
            <a:r>
              <a:t>CONFIRMAR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27832"/>
            <a:ext cx="3172968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pop(true)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Actualizar el pedido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633472"/>
            <a:ext cx="3520440" cy="2057400"/>
          </a:xfrm>
          <a:prstGeom prst="roundRect">
            <a:avLst/>
          </a:prstGeom>
          <a:solidFill>
            <a:srgbClr val="FCEAE6"/>
          </a:solidFill>
          <a:ln w="10160">
            <a:solidFill>
              <a:srgbClr val="FC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2633472"/>
            <a:ext cx="73152" cy="205740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743200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314A"/>
                </a:solidFill>
                <a:latin typeface="Aptos"/>
              </a:defRPr>
            </a:pPr>
            <a:r>
              <a:t>CANCELAR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227832"/>
            <a:ext cx="3172968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pop(false)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Conservar el pedido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633472"/>
            <a:ext cx="3520440" cy="2057400"/>
          </a:xfrm>
          <a:prstGeom prst="roundRect">
            <a:avLst/>
          </a:prstGeom>
          <a:solidFill>
            <a:srgbClr val="EEECFA"/>
          </a:solidFill>
          <a:ln w="10160">
            <a:solidFill>
              <a:srgbClr val="EE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633472"/>
            <a:ext cx="73152" cy="205740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2743200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314A"/>
                </a:solidFill>
                <a:latin typeface="Aptos"/>
              </a:defRPr>
            </a:pPr>
            <a:r>
              <a:t>FLECHA /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3227832"/>
            <a:ext cx="3172968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sin valor → null</a:t>
            </a:r>
          </a:p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Conservar pedido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¿Cuál de estos caminos debería reiniciar la cantidad?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La historia completa del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Un solo flujo conecta estado, navegación y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2386584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7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2807208"/>
            <a:ext cx="184708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" y="2807208"/>
            <a:ext cx="73152" cy="17830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916936"/>
            <a:ext cx="1527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1 ·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401568"/>
            <a:ext cx="1499616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cantidad 1→3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50008" y="3621024"/>
            <a:ext cx="338328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56432" y="2386584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395727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4056" y="2807208"/>
            <a:ext cx="184708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34056" y="2807208"/>
            <a:ext cx="73152" cy="17830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936" y="2916936"/>
            <a:ext cx="1527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2 ·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3401568"/>
            <a:ext cx="1499616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Redibuja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617720" y="3621024"/>
            <a:ext cx="338328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24144" y="2386584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2395727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1768" y="2807208"/>
            <a:ext cx="184708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01768" y="2807208"/>
            <a:ext cx="73152" cy="17830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2916936"/>
            <a:ext cx="1527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3 ·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401568"/>
            <a:ext cx="1499616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Envía datos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885432" y="3621024"/>
            <a:ext cx="338328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91855" y="2386584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5" y="2395727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79" y="2807208"/>
            <a:ext cx="184708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79" y="2807208"/>
            <a:ext cx="73152" cy="17830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59" y="2916936"/>
            <a:ext cx="1527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4 · POP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3401568"/>
            <a:ext cx="1499616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153143" y="3621024"/>
            <a:ext cx="338328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59567" y="2386584"/>
            <a:ext cx="402336" cy="402336"/>
          </a:xfrm>
          <a:prstGeom prst="ellipse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59567" y="2395727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37192" y="2807208"/>
            <a:ext cx="184708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37192" y="2807208"/>
            <a:ext cx="73152" cy="1783080"/>
          </a:xfrm>
          <a:prstGeom prst="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0072" y="2916936"/>
            <a:ext cx="152704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5 · FIN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3401568"/>
            <a:ext cx="1499616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Mensaje + reset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paso muestra pantalla nueva y cuál modifica estado?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Al cancelar, la cantidad original permanece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Se cierra una ruta; el dato pertenece a la pantalla de pedido.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Cantidad: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Ve cantidad: 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REGRESO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false → conserva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¿Por qué el número no se pierde al cerrar el resumen?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Predice: ¿qué queda después de confirmar?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Inicio → Pedido → Resumen → Confirmar → volver.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5117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71800"/>
            <a:ext cx="73152" cy="164592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Inicio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Pedido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6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5117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971800"/>
            <a:ext cx="73152" cy="164592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Confirmar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6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5117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560320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2971800"/>
            <a:ext cx="2743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2971800"/>
            <a:ext cx="73152" cy="164592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08152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DESPUÉS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566160"/>
            <a:ext cx="2395728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Inicio</a:t>
            </a:r>
          </a:p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Pedido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valor viaja de regreso? ¿Qué ruta queda visible?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Cuatro ideas que suelen confundirse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Explicarlas con precisión hace el código más fácil.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77440"/>
            <a:ext cx="73152" cy="10515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87168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STATELESS ≠ estático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71800"/>
            <a:ext cx="491032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Puede cambiar con nuevas entradas.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377440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377440"/>
            <a:ext cx="73152" cy="105156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87168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BOTÓN ≠ Stateful obligatorio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971800"/>
            <a:ext cx="491032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La propiedad del dato decide.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12463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12463"/>
            <a:ext cx="73152" cy="105156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22191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setState ≠ mutación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06824"/>
            <a:ext cx="491032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El callback cambia; setState avisa.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12463"/>
            <a:ext cx="52578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712463"/>
            <a:ext cx="73152" cy="105156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22191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14A"/>
                </a:solidFill>
                <a:latin typeface="Aptos"/>
              </a:defRPr>
            </a:pPr>
            <a:r>
              <a:t>push ≠ volver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306824"/>
            <a:ext cx="4910328" cy="39319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push agrega; pop retira.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¿Cuál confusión corriges primero?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Traduce el diagrama al vocabulario 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Cada paso tiene una contraparte en la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State: cantidad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AVISO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setState()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RUTAS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push / pop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Señala quién recibe la decisión true.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Código 1: evento y reconstrucción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Mira el orden: cambio y aviso.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6629400" cy="2743200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6629400" cy="393192"/>
          </a:xfrm>
          <a:prstGeom prst="rect">
            <a:avLst/>
          </a:prstGeom>
          <a:solidFill>
            <a:srgbClr val="263852"/>
          </a:solidFill>
          <a:ln w="1016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560320"/>
            <a:ext cx="100584" cy="100584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712" y="2560320"/>
            <a:ext cx="100584" cy="100584"/>
          </a:xfrm>
          <a:prstGeom prst="ellipse">
            <a:avLst/>
          </a:prstGeom>
          <a:solidFill>
            <a:srgbClr val="E4B759"/>
          </a:solidFill>
          <a:ln>
            <a:solidFill>
              <a:srgbClr val="E4B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5024" y="2560320"/>
            <a:ext cx="100584" cy="100584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510028"/>
            <a:ext cx="553212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B9C8D8"/>
                </a:solidFill>
                <a:latin typeface="DejaVu Sans Mono"/>
              </a:defRPr>
            </a:pPr>
            <a:r>
              <a:t>main.dart     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971800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971800"/>
            <a:ext cx="5806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89D7D1"/>
                </a:solidFill>
                <a:latin typeface="DejaVu Sans Mono"/>
              </a:defRPr>
            </a:pPr>
            <a:r>
              <a:t>void aumentar()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19272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319272"/>
            <a:ext cx="5806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FC3FF"/>
                </a:solidFill>
                <a:latin typeface="DejaVu Sans Mono"/>
              </a:defRPr>
            </a:pPr>
            <a:r>
              <a:t>  setState(()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666744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666744"/>
            <a:ext cx="5806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C37D"/>
                </a:solidFill>
                <a:latin typeface="DejaVu Sans Mono"/>
              </a:defRPr>
            </a:pPr>
            <a:r>
              <a:t>    cantidad++;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14216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014216"/>
            <a:ext cx="5806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  });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61688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61688"/>
            <a:ext cx="58064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2651760"/>
            <a:ext cx="3474720" cy="2148840"/>
          </a:xfrm>
          <a:prstGeom prst="roundRect">
            <a:avLst/>
          </a:prstGeom>
          <a:solidFill>
            <a:srgbClr val="E3F4F0"/>
          </a:solidFill>
          <a:ln w="10160">
            <a:solidFill>
              <a:srgbClr val="E3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2651760"/>
            <a:ext cx="73152" cy="214884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761488"/>
            <a:ext cx="31546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314A"/>
                </a:solidFill>
                <a:latin typeface="Aptos"/>
              </a:defRPr>
            </a:pPr>
            <a:r>
              <a:t>LECTURA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246120"/>
            <a:ext cx="3127248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evento → mutación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→ aviso → 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¿En qué objeto guardamos cantidad?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Código 2: abrir y volver con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push espera la ruta; pop la cierra y puede devolver un bool.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04288"/>
            <a:ext cx="7178040" cy="3063240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04288"/>
            <a:ext cx="7178040" cy="393192"/>
          </a:xfrm>
          <a:prstGeom prst="rect">
            <a:avLst/>
          </a:prstGeom>
          <a:solidFill>
            <a:srgbClr val="263852"/>
          </a:solidFill>
          <a:ln w="1016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441448"/>
            <a:ext cx="100584" cy="100584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2441448"/>
            <a:ext cx="100584" cy="100584"/>
          </a:xfrm>
          <a:prstGeom prst="ellipse">
            <a:avLst/>
          </a:prstGeom>
          <a:solidFill>
            <a:srgbClr val="E4B759"/>
          </a:solidFill>
          <a:ln>
            <a:solidFill>
              <a:srgbClr val="E4B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1872" y="2441448"/>
            <a:ext cx="100584" cy="100584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7048" y="2391156"/>
            <a:ext cx="6080759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B9C8D8"/>
                </a:solidFill>
                <a:latin typeface="DejaVu Sans Mono"/>
              </a:defRPr>
            </a:pPr>
            <a:r>
              <a:t>main.dart     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52928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52928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89D7D1"/>
                </a:solidFill>
                <a:latin typeface="DejaVu Sans Mono"/>
              </a:defRPr>
            </a:pPr>
            <a:r>
              <a:t>final ok = await Navigator.push&lt;bool&gt;(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163824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63824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  context,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74720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74720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FC3FF"/>
                </a:solidFill>
                <a:latin typeface="DejaVu Sans Mono"/>
              </a:defRPr>
            </a:pPr>
            <a:r>
              <a:t>  MaterialPageRoute&lt;bool&gt;(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85616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85616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    builder: (_) =&gt; PantallaResumen(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96512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96512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3C37D"/>
                </a:solidFill>
                <a:latin typeface="DejaVu Sans Mono"/>
              </a:defRPr>
            </a:pPr>
            <a:r>
              <a:t>      producto: 'Hamburguesa',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407408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07408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      cantidad: cantidad),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718304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18304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  ),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029200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29200"/>
            <a:ext cx="63550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DDF4F0"/>
                </a:solidFill>
                <a:latin typeface="DejaVu Sans Mono"/>
              </a:defRPr>
            </a:pPr>
            <a: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651760"/>
            <a:ext cx="3246120" cy="1737360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651760"/>
            <a:ext cx="3246120" cy="393192"/>
          </a:xfrm>
          <a:prstGeom prst="rect">
            <a:avLst/>
          </a:prstGeom>
          <a:solidFill>
            <a:srgbClr val="263852"/>
          </a:solidFill>
          <a:ln w="1016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19" y="2788920"/>
            <a:ext cx="100584" cy="100584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85632" y="2788920"/>
            <a:ext cx="100584" cy="100584"/>
          </a:xfrm>
          <a:prstGeom prst="ellipse">
            <a:avLst/>
          </a:prstGeom>
          <a:solidFill>
            <a:srgbClr val="E4B759"/>
          </a:solidFill>
          <a:ln>
            <a:solidFill>
              <a:srgbClr val="E4B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95944" y="2788920"/>
            <a:ext cx="100584" cy="100584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2738628"/>
            <a:ext cx="2148839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B9C8D8"/>
                </a:solidFill>
                <a:latin typeface="DejaVu Sans Mono"/>
              </a:defRPr>
            </a:pPr>
            <a:r>
              <a:t>main.dart     DART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3200400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3200400"/>
            <a:ext cx="2423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DFC3FF"/>
                </a:solidFill>
                <a:latin typeface="DejaVu Sans Mono"/>
              </a:defRPr>
            </a:pPr>
            <a:r>
              <a:t>Navigator.pop&lt;bool&gt;(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3547872"/>
            <a:ext cx="320040" cy="2834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7588A1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4232" y="3547872"/>
            <a:ext cx="2423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DDF4F0"/>
                </a:solidFill>
                <a:latin typeface="DejaVu Sans Mono"/>
              </a:defRPr>
            </a:pPr>
            <a:r>
              <a:t>  context, true);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617720"/>
            <a:ext cx="3246120" cy="6583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62718A"/>
                </a:solidFill>
                <a:latin typeface="Aptos"/>
              </a:defRPr>
            </a:pPr>
            <a:r>
              <a:t>pop cierra la ruta y</a:t>
            </a:r>
          </a:p>
          <a:p>
            <a:pPr>
              <a:spcAft>
                <a:spcPts val="500"/>
              </a:spcAft>
              <a:defRPr sz="1500" b="1">
                <a:solidFill>
                  <a:srgbClr val="62718A"/>
                </a:solidFill>
                <a:latin typeface="Aptos"/>
              </a:defRPr>
            </a:pPr>
            <a:r>
              <a:t>devuelve true.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¿Qué llamada completa el Future?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Reto: calcula el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La hamburguesa cuesta $18.000. Diseña antes de codificar.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2240280"/>
          </a:xfrm>
          <a:prstGeom prst="roundRect">
            <a:avLst/>
          </a:prstGeom>
          <a:solidFill>
            <a:srgbClr val="E3F4F0"/>
          </a:solidFill>
          <a:ln w="10160">
            <a:solidFill>
              <a:srgbClr val="E3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73152" cy="22402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709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314A"/>
                </a:solidFill>
                <a:latin typeface="Aptos"/>
              </a:defRPr>
            </a:pPr>
            <a:r>
              <a:t>DISEÑA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79"/>
            <a:ext cx="4681728" cy="1581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¿Quién guarda cantidad?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¿Qué valores viajan?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¿Qué devuelve confirmar?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560320"/>
            <a:ext cx="5029200" cy="2240280"/>
          </a:xfrm>
          <a:prstGeom prst="roundRect">
            <a:avLst/>
          </a:prstGeom>
          <a:solidFill>
            <a:srgbClr val="FCEAE6"/>
          </a:solidFill>
          <a:ln w="10160">
            <a:solidFill>
              <a:srgbClr val="FC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560320"/>
            <a:ext cx="73152" cy="22402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70048"/>
            <a:ext cx="4709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314A"/>
                </a:solidFill>
                <a:latin typeface="Aptos"/>
              </a:defRPr>
            </a:pPr>
            <a:r>
              <a:t>COMPRUEBA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79"/>
            <a:ext cx="4681728" cy="1581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1 unidad → $18.000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3 unidades → $54.000</a:t>
            </a:r>
          </a:p>
          <a:p>
            <a:pPr>
              <a:spcAft>
                <a:spcPts val="500"/>
              </a:spcAft>
              <a:defRPr sz="1800" b="0">
                <a:solidFill>
                  <a:srgbClr val="62718A"/>
                </a:solidFill>
                <a:latin typeface="Aptos"/>
              </a:defRPr>
            </a:pPr>
            <a:r>
              <a:t>Cancelar conserva cantidad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Dibuja pantallas y flechas antes del editor.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Ahora puedes contar la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Widgets describen · State recuerda · Navigator mueve rutas.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Oval 8"/>
          <p:cNvSpPr/>
          <p:nvPr/>
        </p:nvSpPr>
        <p:spPr>
          <a:xfrm>
            <a:off x="1920239" y="2596896"/>
            <a:ext cx="402336" cy="402336"/>
          </a:xfrm>
          <a:prstGeom prst="ellipse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17520"/>
            <a:ext cx="73152" cy="1554480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Describe vista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29584" y="3717035"/>
            <a:ext cx="740664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596896"/>
            <a:ext cx="402336" cy="402336"/>
          </a:xfrm>
          <a:prstGeom prst="ellipse">
            <a:avLst/>
          </a:prstGeom>
          <a:solidFill>
            <a:srgbClr val="F07967"/>
          </a:solidFill>
          <a:ln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17520"/>
            <a:ext cx="73152" cy="1554480"/>
          </a:xfrm>
          <a:prstGeom prst="rect">
            <a:avLst/>
          </a:prstGeom>
          <a:solidFill>
            <a:srgbClr val="F07967"/>
          </a:solidFill>
          <a:ln w="10160">
            <a:solidFill>
              <a:srgbClr val="F07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Recuerda dato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5744" y="3717035"/>
            <a:ext cx="740663" cy="155448"/>
          </a:xfrm>
          <a:prstGeom prst="rightArrow">
            <a:avLst/>
          </a:prstGeom>
          <a:solidFill>
            <a:srgbClr val="18A99B"/>
          </a:solidFill>
          <a:ln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59" y="2596896"/>
            <a:ext cx="402336" cy="402336"/>
          </a:xfrm>
          <a:prstGeom prst="ellipse">
            <a:avLst/>
          </a:prstGeom>
          <a:solidFill>
            <a:srgbClr val="9588DF"/>
          </a:solidFill>
          <a:ln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2606039"/>
            <a:ext cx="402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3017520"/>
            <a:ext cx="274320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3017520"/>
            <a:ext cx="73152" cy="1554480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7" y="3127248"/>
            <a:ext cx="2423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NAVIGATOR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611879"/>
            <a:ext cx="2395728" cy="8961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718A"/>
                </a:solidFill>
                <a:latin typeface="Aptos"/>
              </a:defRPr>
            </a:pPr>
            <a:r>
              <a:t>Mueve rutas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5687568"/>
            <a:ext cx="10936224" cy="530352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6"/>
            <a:ext cx="105156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PREDICE · ¿Puedes dibujarlo y explicarlo sin abrir el editor?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444752" cy="310896"/>
          </a:xfrm>
          <a:prstGeom prst="roundRect">
            <a:avLst/>
          </a:prstGeom>
          <a:solidFill>
            <a:srgbClr val="17243B"/>
          </a:solidFill>
          <a:ln w="10160"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52044"/>
            <a:ext cx="1335024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95528"/>
            <a:ext cx="1106424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43B"/>
                </a:solidFill>
                <a:latin typeface="Aptos"/>
              </a:defRPr>
            </a:pPr>
            <a:r>
              <a:t>Fuentes y material de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097280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718A"/>
                </a:solidFill>
                <a:latin typeface="Aptos"/>
              </a:defRPr>
            </a:pPr>
            <a:r>
              <a:t>Documentación oficial de Flutter.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10528"/>
            <a:ext cx="10972800" cy="22860"/>
          </a:xfrm>
          <a:prstGeom prst="rect">
            <a:avLst/>
          </a:prstGeom>
          <a:solidFill>
            <a:srgbClr val="D6DFE6"/>
          </a:solidFill>
          <a:ln w="10160"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62718A"/>
                </a:solidFill>
                <a:latin typeface="Aptos"/>
              </a:defRPr>
            </a:pPr>
            <a:r>
              <a:t>FLUTTER LAB · JUAN DUQUE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47104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8A99B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698480" cy="1965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314A"/>
                </a:solidFill>
                <a:latin typeface="Aptos"/>
              </a:defRPr>
            </a:pPr>
            <a:r>
              <a:t>StatefulWidget · api.flutter.dev/flutter/widgets/StatefulWidget-class.html</a:t>
            </a:r>
          </a:p>
          <a:p>
            <a:pPr>
              <a:spcAft>
                <a:spcPts val="500"/>
              </a:spcAft>
              <a:defRPr sz="1700" b="0">
                <a:solidFill>
                  <a:srgbClr val="20314A"/>
                </a:solidFill>
                <a:latin typeface="Aptos"/>
              </a:defRPr>
            </a:pPr>
            <a:r>
              <a:t>Navegación · docs.flutter.dev/cookbook/navigation/navigation-basics</a:t>
            </a:r>
          </a:p>
          <a:p>
            <a:pPr>
              <a:spcAft>
                <a:spcPts val="500"/>
              </a:spcAft>
              <a:defRPr sz="1700" b="0">
                <a:solidFill>
                  <a:srgbClr val="20314A"/>
                </a:solidFill>
                <a:latin typeface="Aptos"/>
              </a:defRPr>
            </a:pPr>
            <a:r>
              <a:t>Retornar datos · docs.flutter.dev/cookbook/navigation/returning-data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617720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4617720"/>
            <a:ext cx="73152" cy="621792"/>
          </a:xfrm>
          <a:prstGeom prst="rect">
            <a:avLst/>
          </a:prstGeom>
          <a:solidFill>
            <a:srgbClr val="18A99B"/>
          </a:solidFill>
          <a:ln w="10160">
            <a:solidFill>
              <a:srgbClr val="18A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727448"/>
            <a:ext cx="292607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main.dart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617720"/>
            <a:ext cx="38862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4617720"/>
            <a:ext cx="73152" cy="621792"/>
          </a:xfrm>
          <a:prstGeom prst="rect">
            <a:avLst/>
          </a:prstGeom>
          <a:solidFill>
            <a:srgbClr val="9588DF"/>
          </a:solidFill>
          <a:ln w="10160">
            <a:solidFill>
              <a:srgbClr val="958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727448"/>
            <a:ext cx="3566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0314A"/>
                </a:solidFill>
                <a:latin typeface="Aptos"/>
              </a:defRPr>
            </a:pPr>
            <a:r>
              <a:t>Reto_Alumnos.md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